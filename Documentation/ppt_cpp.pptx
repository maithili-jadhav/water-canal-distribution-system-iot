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2"/>
  </p:notesMasterIdLst>
  <p:handoutMasterIdLst>
    <p:handoutMasterId r:id="rId13"/>
  </p:handoutMasterIdLst>
  <p:sldIdLst>
    <p:sldId id="256" r:id="rId2"/>
    <p:sldId id="297" r:id="rId3"/>
    <p:sldId id="277" r:id="rId4"/>
    <p:sldId id="302" r:id="rId5"/>
    <p:sldId id="280" r:id="rId6"/>
    <p:sldId id="299" r:id="rId7"/>
    <p:sldId id="281" r:id="rId8"/>
    <p:sldId id="276" r:id="rId9"/>
    <p:sldId id="298" r:id="rId10"/>
    <p:sldId id="28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p15:clr>
            <a:srgbClr val="A4A3A4"/>
          </p15:clr>
        </p15:guide>
        <p15:guide id="2" pos="3864">
          <p15:clr>
            <a:srgbClr val="A4A3A4"/>
          </p15:clr>
        </p15:guide>
        <p15:guide id="3" pos="7512">
          <p15:clr>
            <a:srgbClr val="A4A3A4"/>
          </p15:clr>
        </p15:guide>
        <p15:guide id="4" pos="144">
          <p15:clr>
            <a:srgbClr val="A4A3A4"/>
          </p15:clr>
        </p15:guide>
        <p15:guide id="5" orient="horz" pos="624">
          <p15:clr>
            <a:srgbClr val="A4A3A4"/>
          </p15:clr>
        </p15:guide>
        <p15:guide id="6" orient="horz" pos="40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AEC7"/>
    <a:srgbClr val="F59F26"/>
    <a:srgbClr val="095763"/>
    <a:srgbClr val="FF9900"/>
    <a:srgbClr val="32A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D88082-2E51-4D2F-8550-0971B42D4CFA}" v="315" dt="2024-11-17T12:51:59.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52" autoAdjust="0"/>
  </p:normalViewPr>
  <p:slideViewPr>
    <p:cSldViewPr snapToGrid="0" showGuides="1">
      <p:cViewPr varScale="1">
        <p:scale>
          <a:sx n="78" d="100"/>
          <a:sy n="78" d="100"/>
        </p:scale>
        <p:origin x="835" y="7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7/25/2026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2976059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7/25/2026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389600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3264039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1752231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2577347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287903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685989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2824588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A1498-92C7-4E4B-8045-C9195F453964}"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7/25/2026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30">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492" y="1523210"/>
            <a:ext cx="9144000" cy="3447098"/>
          </a:xfrm>
        </p:spPr>
        <p:txBody>
          <a:bodyPr wrap="square" lIns="0" tIns="0" rIns="0" bIns="0" anchor="t">
            <a:spAutoFit/>
          </a:bodyPr>
          <a:lstStyle/>
          <a:p>
            <a:pPr>
              <a:lnSpc>
                <a:spcPct val="100000"/>
              </a:lnSpc>
            </a:pPr>
            <a:r>
              <a:rPr lang="en-US" sz="2400" dirty="0" err="1">
                <a:solidFill>
                  <a:schemeClr val="bg1"/>
                </a:solidFill>
                <a:latin typeface="Times New Roman" panose="02020603050405020304" pitchFamily="18" charset="0"/>
                <a:cs typeface="Times New Roman" panose="02020603050405020304" pitchFamily="18" charset="0"/>
              </a:rPr>
              <a:t>K.K.Wagh</a:t>
            </a:r>
            <a:r>
              <a:rPr lang="en-US" sz="2400" dirty="0">
                <a:solidFill>
                  <a:schemeClr val="bg1"/>
                </a:solidFill>
                <a:latin typeface="Times New Roman" panose="02020603050405020304" pitchFamily="18" charset="0"/>
                <a:cs typeface="Times New Roman" panose="02020603050405020304" pitchFamily="18" charset="0"/>
              </a:rPr>
              <a:t> Polytechnic, Nashik</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Department Of Information Technology</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Academic Year 2024-25</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Topic : </a:t>
            </a:r>
            <a:br>
              <a:rPr lang="en-US" sz="4800" dirty="0">
                <a:solidFill>
                  <a:schemeClr val="bg1"/>
                </a:solidFill>
                <a:latin typeface="Times New Roman" panose="02020603050405020304" pitchFamily="18" charset="0"/>
                <a:cs typeface="Times New Roman" panose="02020603050405020304" pitchFamily="18" charset="0"/>
              </a:rPr>
            </a:br>
            <a:r>
              <a:rPr lang="en-US" sz="3200" dirty="0">
                <a:solidFill>
                  <a:schemeClr val="accent4"/>
                </a:solidFill>
                <a:latin typeface="Times New Roman" panose="02020603050405020304" pitchFamily="18" charset="0"/>
                <a:cs typeface="Times New Roman" panose="02020603050405020304" pitchFamily="18" charset="0"/>
              </a:rPr>
              <a:t>“Water Canal Distribution System Using </a:t>
            </a:r>
            <a:r>
              <a:rPr lang="en-US" sz="3200" dirty="0" err="1">
                <a:solidFill>
                  <a:schemeClr val="accent4"/>
                </a:solidFill>
                <a:latin typeface="Times New Roman" panose="02020603050405020304" pitchFamily="18" charset="0"/>
                <a:cs typeface="Times New Roman" panose="02020603050405020304" pitchFamily="18" charset="0"/>
              </a:rPr>
              <a:t>IoT</a:t>
            </a:r>
            <a:r>
              <a:rPr lang="en-US" sz="3200" dirty="0">
                <a:solidFill>
                  <a:schemeClr val="accent4"/>
                </a:solidFill>
                <a:latin typeface="Times New Roman" panose="02020603050405020304" pitchFamily="18" charset="0"/>
                <a:cs typeface="Times New Roman" panose="02020603050405020304" pitchFamily="18" charset="0"/>
              </a:rPr>
              <a:t> ”</a:t>
            </a:r>
            <a:r>
              <a:rPr lang="en-US" sz="4800" dirty="0">
                <a:solidFill>
                  <a:schemeClr val="bg1"/>
                </a:solidFill>
                <a:latin typeface="Times New Roman" panose="02020603050405020304" pitchFamily="18" charset="0"/>
                <a:cs typeface="Times New Roman" panose="02020603050405020304" pitchFamily="18" charset="0"/>
              </a:rPr>
              <a:t> </a:t>
            </a:r>
            <a:br>
              <a:rPr lang="en-US" sz="4800" dirty="0">
                <a:solidFill>
                  <a:schemeClr val="bg1"/>
                </a:solidFill>
                <a:latin typeface="Times New Roman" panose="02020603050405020304" pitchFamily="18" charset="0"/>
                <a:cs typeface="Times New Roman" panose="02020603050405020304" pitchFamily="18" charset="0"/>
              </a:rPr>
            </a:br>
            <a:br>
              <a:rPr lang="en-US" sz="2400" dirty="0">
                <a:solidFill>
                  <a:schemeClr val="bg1"/>
                </a:solidFill>
                <a:latin typeface="Times New Roman" panose="02020603050405020304" pitchFamily="18" charset="0"/>
                <a:cs typeface="Times New Roman" panose="02020603050405020304" pitchFamily="18" charset="0"/>
              </a:rPr>
            </a:b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 </a:t>
            </a:r>
            <a:endParaRPr lang="en-US" sz="2400" dirty="0">
              <a:solidFill>
                <a:schemeClr val="accent4"/>
              </a:solidFill>
              <a:latin typeface="Times New Roman" panose="02020603050405020304" pitchFamily="18" charset="0"/>
              <a:cs typeface="Times New Roman" panose="02020603050405020304" pitchFamily="18" charset="0"/>
            </a:endParaRPr>
          </a:p>
        </p:txBody>
      </p:sp>
      <p:pic>
        <p:nvPicPr>
          <p:cNvPr id="11" name="Picture 10" descr="C:\Users\pacific\Desktop\downloa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252"/>
            <a:ext cx="2030952" cy="1404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C:\Users\ratan\Desktop\K.K. Wagh Polytechnic Handbill (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30952" y="0"/>
            <a:ext cx="813108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62032" y="1"/>
            <a:ext cx="2029968" cy="1371599"/>
          </a:xfrm>
          <a:prstGeom prst="rect">
            <a:avLst/>
          </a:prstGeom>
        </p:spPr>
      </p:pic>
      <p:sp>
        <p:nvSpPr>
          <p:cNvPr id="3" name="TextBox 2"/>
          <p:cNvSpPr txBox="1"/>
          <p:nvPr/>
        </p:nvSpPr>
        <p:spPr>
          <a:xfrm>
            <a:off x="8979709" y="5121918"/>
            <a:ext cx="3377565" cy="1323439"/>
          </a:xfrm>
          <a:prstGeom prst="rect">
            <a:avLst/>
          </a:prstGeom>
          <a:noFill/>
        </p:spPr>
        <p:txBody>
          <a:bodyPr wrap="square" rtlCol="0">
            <a:spAutoFit/>
          </a:bodyPr>
          <a:lstStyle/>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Name Of Student </a:t>
            </a:r>
            <a:r>
              <a:rPr lang="en-US" sz="2000" b="1" dirty="0">
                <a:solidFill>
                  <a:schemeClr val="bg1"/>
                </a:solidFill>
                <a:latin typeface="Times New Roman" panose="02020603050405020304" pitchFamily="18" charset="0"/>
                <a:cs typeface="Times New Roman" panose="02020603050405020304" pitchFamily="18" charset="0"/>
              </a:rPr>
              <a:t>:</a:t>
            </a:r>
          </a:p>
          <a:p>
            <a:pPr algn="ctr"/>
            <a:r>
              <a:rPr lang="en-US" sz="2000" b="1" dirty="0">
                <a:solidFill>
                  <a:srgbClr val="F59F26"/>
                </a:solidFill>
                <a:latin typeface="Times New Roman" panose="02020603050405020304" pitchFamily="18" charset="0"/>
                <a:cs typeface="Times New Roman" panose="02020603050405020304" pitchFamily="18" charset="0"/>
              </a:rPr>
              <a:t>Maithili .S. Jadhav</a:t>
            </a:r>
          </a:p>
          <a:p>
            <a:pPr algn="ctr"/>
            <a:endParaRPr lang="en-US" sz="20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water channel with wifi icons&#10;&#10;Description automatically generated">
            <a:extLst>
              <a:ext uri="{FF2B5EF4-FFF2-40B4-BE49-F238E27FC236}">
                <a16:creationId xmlns:a16="http://schemas.microsoft.com/office/drawing/2014/main" id="{9A61C7AD-531A-D242-A6AD-EF6F07A34F4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4118846"/>
            <a:ext cx="4377790" cy="2755854"/>
          </a:xfrm>
          <a:prstGeom prst="rect">
            <a:avLst/>
          </a:prstGeom>
        </p:spPr>
      </p:pic>
      <p:sp>
        <p:nvSpPr>
          <p:cNvPr id="4" name="Rectangle 3"/>
          <p:cNvSpPr/>
          <p:nvPr/>
        </p:nvSpPr>
        <p:spPr>
          <a:xfrm>
            <a:off x="4928048" y="6002917"/>
            <a:ext cx="4175491" cy="646331"/>
          </a:xfrm>
          <a:prstGeom prst="rect">
            <a:avLst/>
          </a:prstGeom>
        </p:spPr>
        <p:txBody>
          <a:bodyPr wrap="square">
            <a:spAutoFit/>
          </a:bodyPr>
          <a:lstStyle/>
          <a:p>
            <a:pPr algn="ctr"/>
            <a:r>
              <a:rPr lang="en-US" dirty="0">
                <a:solidFill>
                  <a:schemeClr val="bg1"/>
                </a:solidFill>
                <a:latin typeface="Times New Roman" panose="02020603050405020304" pitchFamily="18" charset="0"/>
                <a:cs typeface="Times New Roman" panose="02020603050405020304" pitchFamily="18" charset="0"/>
              </a:rPr>
              <a:t>Name Of Guide </a:t>
            </a:r>
            <a:r>
              <a:rPr lang="en-US" b="1" dirty="0">
                <a:solidFill>
                  <a:schemeClr val="bg1"/>
                </a:solidFill>
                <a:latin typeface="Times New Roman" panose="02020603050405020304" pitchFamily="18" charset="0"/>
                <a:cs typeface="Times New Roman" panose="02020603050405020304" pitchFamily="18" charset="0"/>
              </a:rPr>
              <a:t>:</a:t>
            </a:r>
          </a:p>
          <a:p>
            <a:pPr algn="ctr"/>
            <a:r>
              <a:rPr lang="en-US" b="1" dirty="0">
                <a:solidFill>
                  <a:srgbClr val="F59F26"/>
                </a:solidFill>
                <a:latin typeface="Times New Roman" panose="02020603050405020304" pitchFamily="18" charset="0"/>
                <a:cs typeface="Times New Roman" panose="02020603050405020304" pitchFamily="18" charset="0"/>
              </a:rPr>
              <a:t> Mrs. M. P. </a:t>
            </a:r>
            <a:r>
              <a:rPr lang="en-US" b="1" dirty="0" err="1">
                <a:solidFill>
                  <a:srgbClr val="F59F26"/>
                </a:solidFill>
                <a:latin typeface="Times New Roman" panose="02020603050405020304" pitchFamily="18" charset="0"/>
                <a:cs typeface="Times New Roman" panose="02020603050405020304" pitchFamily="18" charset="0"/>
              </a:rPr>
              <a:t>Nawarkar</a:t>
            </a:r>
            <a:endParaRPr lang="en-US" b="1" dirty="0">
              <a:solidFill>
                <a:srgbClr val="F59F2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c 9"/>
          <p:cNvSpPr/>
          <p:nvPr/>
        </p:nvSpPr>
        <p:spPr>
          <a:xfrm>
            <a:off x="1057273" y="-95249"/>
            <a:ext cx="2324100" cy="7029450"/>
          </a:xfrm>
          <a:prstGeom prst="arc">
            <a:avLst>
              <a:gd name="adj1" fmla="val 16378560"/>
              <a:gd name="adj2" fmla="val 5255848"/>
            </a:avLst>
          </a:prstGeom>
          <a:ln w="57150"/>
        </p:spPr>
        <p:style>
          <a:lnRef idx="1">
            <a:schemeClr val="dk1"/>
          </a:lnRef>
          <a:fillRef idx="0">
            <a:schemeClr val="dk1"/>
          </a:fillRef>
          <a:effectRef idx="0">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3" name="Oval 2"/>
          <p:cNvSpPr/>
          <p:nvPr/>
        </p:nvSpPr>
        <p:spPr>
          <a:xfrm>
            <a:off x="2476499" y="495300"/>
            <a:ext cx="1114425" cy="1095375"/>
          </a:xfrm>
          <a:prstGeom prst="ellipse">
            <a:avLst/>
          </a:prstGeom>
          <a:solidFill>
            <a:schemeClr val="bg1">
              <a:lumMod val="85000"/>
            </a:schemeClr>
          </a:solidFill>
          <a:ln w="76200">
            <a:solidFill>
              <a:srgbClr val="F59F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76200">
                <a:solidFill>
                  <a:schemeClr val="tx1"/>
                </a:solidFill>
              </a:ln>
            </a:endParaRPr>
          </a:p>
        </p:txBody>
      </p:sp>
      <p:sp>
        <p:nvSpPr>
          <p:cNvPr id="4" name="Oval 3"/>
          <p:cNvSpPr/>
          <p:nvPr/>
        </p:nvSpPr>
        <p:spPr>
          <a:xfrm>
            <a:off x="2824160" y="2181224"/>
            <a:ext cx="1114425" cy="1095375"/>
          </a:xfrm>
          <a:prstGeom prst="ellipse">
            <a:avLst/>
          </a:prstGeom>
          <a:solidFill>
            <a:schemeClr val="bg1">
              <a:lumMod val="85000"/>
            </a:schemeClr>
          </a:solidFill>
          <a:ln w="76200">
            <a:solidFill>
              <a:srgbClr val="11AE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24162" y="3742132"/>
            <a:ext cx="1114425" cy="1095375"/>
          </a:xfrm>
          <a:prstGeom prst="ellipse">
            <a:avLst/>
          </a:prstGeom>
          <a:solidFill>
            <a:schemeClr val="bg1">
              <a:lumMod val="85000"/>
            </a:schemeClr>
          </a:solidFill>
          <a:ln w="76200">
            <a:solidFill>
              <a:srgbClr val="F59F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476498" y="5307805"/>
            <a:ext cx="1114425" cy="1095375"/>
          </a:xfrm>
          <a:prstGeom prst="ellipse">
            <a:avLst/>
          </a:prstGeom>
          <a:solidFill>
            <a:schemeClr val="bg1">
              <a:lumMod val="85000"/>
            </a:schemeClr>
          </a:solidFill>
          <a:ln w="76200">
            <a:solidFill>
              <a:srgbClr val="11AE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descr="Icon of gears. "/>
          <p:cNvGrpSpPr/>
          <p:nvPr/>
        </p:nvGrpSpPr>
        <p:grpSpPr>
          <a:xfrm>
            <a:off x="2773919" y="800350"/>
            <a:ext cx="519582" cy="523369"/>
            <a:chOff x="7613650" y="1387475"/>
            <a:chExt cx="284163" cy="284163"/>
          </a:xfrm>
          <a:solidFill>
            <a:schemeClr val="tx1">
              <a:lumMod val="95000"/>
              <a:lumOff val="5000"/>
            </a:schemeClr>
          </a:solidFill>
        </p:grpSpPr>
        <p:sp>
          <p:nvSpPr>
            <p:cNvPr id="15" name="Freeform 4359"/>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4360"/>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17" name="Freeform 1676" descr="Icon of check box. "/>
          <p:cNvSpPr>
            <a:spLocks noEditPoints="1"/>
          </p:cNvSpPr>
          <p:nvPr/>
        </p:nvSpPr>
        <p:spPr bwMode="auto">
          <a:xfrm>
            <a:off x="3187552" y="2505548"/>
            <a:ext cx="403371" cy="446726"/>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tx1">
              <a:lumMod val="95000"/>
              <a:lumOff val="5000"/>
            </a:schemeClr>
          </a:solidFill>
          <a:ln>
            <a:noFill/>
          </a:ln>
        </p:spPr>
        <p:txBody>
          <a:bodyPr vert="horz" wrap="square" lIns="91440" tIns="45720" rIns="91440" bIns="45720" numCol="1" anchor="t" anchorCtr="0" compatLnSpc="1"/>
          <a:lstStyle/>
          <a:p>
            <a:endParaRPr lang="en-US" dirty="0"/>
          </a:p>
        </p:txBody>
      </p:sp>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39658" y="4054338"/>
            <a:ext cx="475727" cy="475727"/>
          </a:xfrm>
          <a:prstGeom prst="rect">
            <a:avLst/>
          </a:prstGeom>
          <a:solidFill>
            <a:schemeClr val="tx1">
              <a:lumMod val="95000"/>
              <a:lumOff val="5000"/>
            </a:schemeClr>
          </a:solidFill>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22494" y="5644276"/>
            <a:ext cx="422432" cy="422432"/>
          </a:xfrm>
          <a:prstGeom prst="rect">
            <a:avLst/>
          </a:prstGeom>
          <a:solidFill>
            <a:schemeClr val="tx1">
              <a:lumMod val="95000"/>
              <a:lumOff val="5000"/>
            </a:schemeClr>
          </a:solidFill>
        </p:spPr>
      </p:pic>
      <p:sp>
        <p:nvSpPr>
          <p:cNvPr id="20" name="Rectangle: Rounded Corners 15"/>
          <p:cNvSpPr/>
          <p:nvPr/>
        </p:nvSpPr>
        <p:spPr>
          <a:xfrm>
            <a:off x="4597662" y="646216"/>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dirty="0"/>
              <a:t> </a:t>
            </a:r>
          </a:p>
          <a:p>
            <a:pPr algn="ctr"/>
            <a:r>
              <a:rPr lang="en-US" sz="1600" dirty="0">
                <a:latin typeface="Times New Roman" panose="02020603050405020304" pitchFamily="18" charset="0"/>
                <a:cs typeface="Times New Roman" panose="02020603050405020304" pitchFamily="18" charset="0"/>
              </a:rPr>
              <a:t>       Introduction of project</a:t>
            </a:r>
          </a:p>
          <a:p>
            <a:pPr algn="r"/>
            <a:r>
              <a:rPr lang="en-US" sz="1600" dirty="0">
                <a:latin typeface="Times New Roman" panose="02020603050405020304" pitchFamily="18" charset="0"/>
                <a:cs typeface="Times New Roman" panose="02020603050405020304" pitchFamily="18" charset="0"/>
              </a:rPr>
              <a:t>            </a:t>
            </a:r>
          </a:p>
        </p:txBody>
      </p:sp>
      <p:sp>
        <p:nvSpPr>
          <p:cNvPr id="21" name="Oval 20"/>
          <p:cNvSpPr/>
          <p:nvPr/>
        </p:nvSpPr>
        <p:spPr>
          <a:xfrm>
            <a:off x="4482036" y="555234"/>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Rounded Corners 26"/>
          <p:cNvSpPr/>
          <p:nvPr/>
        </p:nvSpPr>
        <p:spPr>
          <a:xfrm>
            <a:off x="5554926" y="2322409"/>
            <a:ext cx="3660775" cy="740997"/>
          </a:xfrm>
          <a:prstGeom prst="roundRect">
            <a:avLst>
              <a:gd name="adj" fmla="val 50000"/>
            </a:avLst>
          </a:prstGeom>
          <a:solidFill>
            <a:srgbClr val="11AE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cs typeface="Times New Roman" panose="02020603050405020304" pitchFamily="18" charset="0"/>
              </a:rPr>
              <a:t>	Description of The Project</a:t>
            </a:r>
          </a:p>
        </p:txBody>
      </p:sp>
      <p:sp>
        <p:nvSpPr>
          <p:cNvPr id="24" name="Rectangle: Rounded Corners 18"/>
          <p:cNvSpPr/>
          <p:nvPr/>
        </p:nvSpPr>
        <p:spPr>
          <a:xfrm>
            <a:off x="5676723" y="3947408"/>
            <a:ext cx="3569138" cy="740997"/>
          </a:xfrm>
          <a:prstGeom prst="roundRect">
            <a:avLst>
              <a:gd name="adj" fmla="val 50000"/>
            </a:avLst>
          </a:prstGeom>
          <a:solidFill>
            <a:srgbClr val="F59F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     </a:t>
            </a:r>
            <a:r>
              <a:rPr lang="en-US" sz="1600" dirty="0">
                <a:latin typeface="Times New Roman" panose="02020603050405020304" pitchFamily="18" charset="0"/>
                <a:cs typeface="Times New Roman" panose="02020603050405020304" pitchFamily="18" charset="0"/>
              </a:rPr>
              <a:t>problem &amp; solution</a:t>
            </a:r>
          </a:p>
        </p:txBody>
      </p:sp>
      <p:sp>
        <p:nvSpPr>
          <p:cNvPr id="23" name="Oval 22"/>
          <p:cNvSpPr/>
          <p:nvPr/>
        </p:nvSpPr>
        <p:spPr>
          <a:xfrm>
            <a:off x="5451734" y="3853433"/>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5426337" y="2249824"/>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6"/>
          <p:cNvSpPr/>
          <p:nvPr/>
        </p:nvSpPr>
        <p:spPr>
          <a:xfrm>
            <a:off x="4807212" y="5512600"/>
            <a:ext cx="3660775" cy="740997"/>
          </a:xfrm>
          <a:prstGeom prst="roundRect">
            <a:avLst>
              <a:gd name="adj" fmla="val 50000"/>
            </a:avLst>
          </a:prstGeom>
          <a:solidFill>
            <a:srgbClr val="11AE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anose="02020603050405020304" pitchFamily="18" charset="0"/>
                <a:cs typeface="Times New Roman" panose="02020603050405020304" pitchFamily="18" charset="0"/>
              </a:rPr>
              <a:t>	conclusion </a:t>
            </a:r>
          </a:p>
          <a:p>
            <a:r>
              <a:rPr lang="en-US" sz="1600" dirty="0">
                <a:latin typeface="Times New Roman" panose="02020603050405020304" pitchFamily="18" charset="0"/>
                <a:cs typeface="Times New Roman" panose="02020603050405020304" pitchFamily="18" charset="0"/>
              </a:rPr>
              <a:t>       </a:t>
            </a:r>
          </a:p>
        </p:txBody>
      </p:sp>
      <p:sp>
        <p:nvSpPr>
          <p:cNvPr id="28" name="Oval 27"/>
          <p:cNvSpPr/>
          <p:nvPr/>
        </p:nvSpPr>
        <p:spPr>
          <a:xfrm>
            <a:off x="4597662" y="5413198"/>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p:cNvSpPr txBox="1"/>
          <p:nvPr/>
        </p:nvSpPr>
        <p:spPr>
          <a:xfrm>
            <a:off x="4713549" y="755104"/>
            <a:ext cx="485775" cy="523220"/>
          </a:xfrm>
          <a:prstGeom prst="rect">
            <a:avLst/>
          </a:prstGeom>
          <a:noFill/>
        </p:spPr>
        <p:txBody>
          <a:bodyPr wrap="square" rtlCol="0">
            <a:spAutoFit/>
          </a:bodyPr>
          <a:lstStyle/>
          <a:p>
            <a:pPr algn="ct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1</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0" name="TextBox 29"/>
          <p:cNvSpPr txBox="1"/>
          <p:nvPr/>
        </p:nvSpPr>
        <p:spPr>
          <a:xfrm>
            <a:off x="5659121" y="2454495"/>
            <a:ext cx="485775" cy="523220"/>
          </a:xfrm>
          <a:prstGeom prst="rect">
            <a:avLst/>
          </a:prstGeom>
          <a:noFill/>
        </p:spPr>
        <p:txBody>
          <a:bodyPr wrap="square" rtlCol="0">
            <a:spAutoFit/>
          </a:bodyPr>
          <a:lstStyle/>
          <a:p>
            <a:pPr algn="ct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2</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p:cNvSpPr txBox="1"/>
          <p:nvPr/>
        </p:nvSpPr>
        <p:spPr>
          <a:xfrm>
            <a:off x="5676723" y="4028209"/>
            <a:ext cx="485775" cy="523220"/>
          </a:xfrm>
          <a:prstGeom prst="rect">
            <a:avLst/>
          </a:prstGeom>
          <a:noFill/>
        </p:spPr>
        <p:txBody>
          <a:bodyPr wrap="square" rtlCol="0">
            <a:spAutoFit/>
          </a:bodyPr>
          <a:lstStyle/>
          <a:p>
            <a:pPr algn="ct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3</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2" name="TextBox 31"/>
          <p:cNvSpPr txBox="1"/>
          <p:nvPr/>
        </p:nvSpPr>
        <p:spPr>
          <a:xfrm>
            <a:off x="4824674" y="5593882"/>
            <a:ext cx="485775" cy="523220"/>
          </a:xfrm>
          <a:prstGeom prst="rect">
            <a:avLst/>
          </a:prstGeom>
          <a:noFill/>
        </p:spPr>
        <p:txBody>
          <a:bodyPr wrap="square" rtlCol="0">
            <a:spAutoFit/>
          </a:bodyPr>
          <a:lstStyle/>
          <a:p>
            <a:pPr algn="ctr"/>
            <a:r>
              <a:rPr lang="en-US" sz="2800" dirty="0">
                <a:solidFill>
                  <a:schemeClr val="bg1"/>
                </a:solidFill>
                <a:latin typeface="Tahoma" panose="020B0604030504040204" pitchFamily="34" charset="0"/>
                <a:ea typeface="Tahoma" panose="020B0604030504040204" pitchFamily="34" charset="0"/>
                <a:cs typeface="Tahoma" panose="020B0604030504040204" pitchFamily="34" charset="0"/>
              </a:rPr>
              <a:t>4</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3" name="TextBox 32"/>
          <p:cNvSpPr txBox="1"/>
          <p:nvPr/>
        </p:nvSpPr>
        <p:spPr>
          <a:xfrm rot="16200000">
            <a:off x="-979445" y="3007590"/>
            <a:ext cx="4873988" cy="769441"/>
          </a:xfrm>
          <a:prstGeom prst="rect">
            <a:avLst/>
          </a:prstGeom>
          <a:noFill/>
        </p:spPr>
        <p:txBody>
          <a:bodyPr wrap="square" rtlCol="0">
            <a:spAutoFit/>
          </a:bodyPr>
          <a:lstStyle/>
          <a:p>
            <a:pPr algn="ctr"/>
            <a:r>
              <a:rPr lang="en-US" sz="4400"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312867193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21"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par>
                          <p:cTn id="13" fill="hold">
                            <p:stCondLst>
                              <p:cond delay="1000"/>
                            </p:stCondLst>
                            <p:childTnLst>
                              <p:par>
                                <p:cTn id="14" presetID="2" presetClass="entr" presetSubtype="9"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0-#ppt_w/2"/>
                                          </p:val>
                                        </p:tav>
                                        <p:tav tm="100000">
                                          <p:val>
                                            <p:strVal val="#ppt_x"/>
                                          </p:val>
                                        </p:tav>
                                      </p:tavLst>
                                    </p:anim>
                                    <p:anim calcmode="lin" valueType="num">
                                      <p:cBhvr additive="base">
                                        <p:cTn id="17" dur="500" fill="hold"/>
                                        <p:tgtEl>
                                          <p:spTgt spid="14"/>
                                        </p:tgtEl>
                                        <p:attrNameLst>
                                          <p:attrName>ppt_y</p:attrName>
                                        </p:attrNameLst>
                                      </p:cBhvr>
                                      <p:tavLst>
                                        <p:tav tm="0">
                                          <p:val>
                                            <p:strVal val="0-#ppt_h/2"/>
                                          </p:val>
                                        </p:tav>
                                        <p:tav tm="100000">
                                          <p:val>
                                            <p:strVal val="#ppt_y"/>
                                          </p:val>
                                        </p:tav>
                                      </p:tavLst>
                                    </p:anim>
                                  </p:childTnLst>
                                </p:cTn>
                              </p:par>
                              <p:par>
                                <p:cTn id="18" presetID="2" presetClass="entr" presetSubtype="9"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0-#ppt_h/2"/>
                                          </p:val>
                                        </p:tav>
                                        <p:tav tm="100000">
                                          <p:val>
                                            <p:strVal val="#ppt_y"/>
                                          </p:val>
                                        </p:tav>
                                      </p:tavLst>
                                    </p:anim>
                                  </p:childTnLst>
                                </p:cTn>
                              </p:par>
                              <p:par>
                                <p:cTn id="22" presetID="2" presetClass="entr" presetSubtype="9"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0-#ppt_w/2"/>
                                          </p:val>
                                        </p:tav>
                                        <p:tav tm="100000">
                                          <p:val>
                                            <p:strVal val="#ppt_x"/>
                                          </p:val>
                                        </p:tav>
                                      </p:tavLst>
                                    </p:anim>
                                    <p:anim calcmode="lin" valueType="num">
                                      <p:cBhvr additive="base">
                                        <p:cTn id="25" dur="500" fill="hold"/>
                                        <p:tgtEl>
                                          <p:spTgt spid="20"/>
                                        </p:tgtEl>
                                        <p:attrNameLst>
                                          <p:attrName>ppt_y</p:attrName>
                                        </p:attrNameLst>
                                      </p:cBhvr>
                                      <p:tavLst>
                                        <p:tav tm="0">
                                          <p:val>
                                            <p:strVal val="0-#ppt_h/2"/>
                                          </p:val>
                                        </p:tav>
                                        <p:tav tm="100000">
                                          <p:val>
                                            <p:strVal val="#ppt_y"/>
                                          </p:val>
                                        </p:tav>
                                      </p:tavLst>
                                    </p:anim>
                                  </p:childTnLst>
                                </p:cTn>
                              </p:par>
                              <p:par>
                                <p:cTn id="26" presetID="2" presetClass="entr" presetSubtype="9"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additive="base">
                                        <p:cTn id="28" dur="500" fill="hold"/>
                                        <p:tgtEl>
                                          <p:spTgt spid="29"/>
                                        </p:tgtEl>
                                        <p:attrNameLst>
                                          <p:attrName>ppt_x</p:attrName>
                                        </p:attrNameLst>
                                      </p:cBhvr>
                                      <p:tavLst>
                                        <p:tav tm="0">
                                          <p:val>
                                            <p:strVal val="0-#ppt_w/2"/>
                                          </p:val>
                                        </p:tav>
                                        <p:tav tm="100000">
                                          <p:val>
                                            <p:strVal val="#ppt_x"/>
                                          </p:val>
                                        </p:tav>
                                      </p:tavLst>
                                    </p:anim>
                                    <p:anim calcmode="lin" valueType="num">
                                      <p:cBhvr additive="base">
                                        <p:cTn id="29" dur="500" fill="hold"/>
                                        <p:tgtEl>
                                          <p:spTgt spid="29"/>
                                        </p:tgtEl>
                                        <p:attrNameLst>
                                          <p:attrName>ppt_y</p:attrName>
                                        </p:attrNameLst>
                                      </p:cBhvr>
                                      <p:tavLst>
                                        <p:tav tm="0">
                                          <p:val>
                                            <p:strVal val="0-#ppt_h/2"/>
                                          </p:val>
                                        </p:tav>
                                        <p:tav tm="100000">
                                          <p:val>
                                            <p:strVal val="#ppt_y"/>
                                          </p:val>
                                        </p:tav>
                                      </p:tavLst>
                                    </p:anim>
                                  </p:childTnLst>
                                </p:cTn>
                              </p:par>
                              <p:par>
                                <p:cTn id="30" presetID="2" presetClass="entr" presetSubtype="9"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0-#ppt_w/2"/>
                                          </p:val>
                                        </p:tav>
                                        <p:tav tm="100000">
                                          <p:val>
                                            <p:strVal val="#ppt_x"/>
                                          </p:val>
                                        </p:tav>
                                      </p:tavLst>
                                    </p:anim>
                                    <p:anim calcmode="lin" valueType="num">
                                      <p:cBhvr additive="base">
                                        <p:cTn id="33" dur="500" fill="hold"/>
                                        <p:tgtEl>
                                          <p:spTgt spid="21"/>
                                        </p:tgtEl>
                                        <p:attrNameLst>
                                          <p:attrName>ppt_y</p:attrName>
                                        </p:attrNameLst>
                                      </p:cBhvr>
                                      <p:tavLst>
                                        <p:tav tm="0">
                                          <p:val>
                                            <p:strVal val="0-#ppt_h/2"/>
                                          </p:val>
                                        </p:tav>
                                        <p:tav tm="100000">
                                          <p:val>
                                            <p:strVal val="#ppt_y"/>
                                          </p:val>
                                        </p:tav>
                                      </p:tavLst>
                                    </p:anim>
                                  </p:childTnLst>
                                </p:cTn>
                              </p:par>
                            </p:childTnLst>
                          </p:cTn>
                        </p:par>
                        <p:par>
                          <p:cTn id="34" fill="hold">
                            <p:stCondLst>
                              <p:cond delay="1500"/>
                            </p:stCondLst>
                            <p:childTnLst>
                              <p:par>
                                <p:cTn id="35" presetID="2" presetClass="entr" presetSubtype="2"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1+#ppt_w/2"/>
                                          </p:val>
                                        </p:tav>
                                        <p:tav tm="100000">
                                          <p:val>
                                            <p:strVal val="#ppt_x"/>
                                          </p:val>
                                        </p:tav>
                                      </p:tavLst>
                                    </p:anim>
                                    <p:anim calcmode="lin" valueType="num">
                                      <p:cBhvr additive="base">
                                        <p:cTn id="38" dur="500" fill="hold"/>
                                        <p:tgtEl>
                                          <p:spTgt spid="4"/>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1+#ppt_w/2"/>
                                          </p:val>
                                        </p:tav>
                                        <p:tav tm="100000">
                                          <p:val>
                                            <p:strVal val="#ppt_x"/>
                                          </p:val>
                                        </p:tav>
                                      </p:tavLst>
                                    </p:anim>
                                    <p:anim calcmode="lin" valueType="num">
                                      <p:cBhvr additive="base">
                                        <p:cTn id="42" dur="500" fill="hold"/>
                                        <p:tgtEl>
                                          <p:spTgt spid="17"/>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1+#ppt_w/2"/>
                                          </p:val>
                                        </p:tav>
                                        <p:tav tm="100000">
                                          <p:val>
                                            <p:strVal val="#ppt_x"/>
                                          </p:val>
                                        </p:tav>
                                      </p:tavLst>
                                    </p:anim>
                                    <p:anim calcmode="lin" valueType="num">
                                      <p:cBhvr additive="base">
                                        <p:cTn id="46" dur="500" fill="hold"/>
                                        <p:tgtEl>
                                          <p:spTgt spid="22"/>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1+#ppt_w/2"/>
                                          </p:val>
                                        </p:tav>
                                        <p:tav tm="100000">
                                          <p:val>
                                            <p:strVal val="#ppt_x"/>
                                          </p:val>
                                        </p:tav>
                                      </p:tavLst>
                                    </p:anim>
                                    <p:anim calcmode="lin" valueType="num">
                                      <p:cBhvr additive="base">
                                        <p:cTn id="50" dur="500" fill="hold"/>
                                        <p:tgtEl>
                                          <p:spTgt spid="25"/>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additive="base">
                                        <p:cTn id="53" dur="500" fill="hold"/>
                                        <p:tgtEl>
                                          <p:spTgt spid="30"/>
                                        </p:tgtEl>
                                        <p:attrNameLst>
                                          <p:attrName>ppt_x</p:attrName>
                                        </p:attrNameLst>
                                      </p:cBhvr>
                                      <p:tavLst>
                                        <p:tav tm="0">
                                          <p:val>
                                            <p:strVal val="1+#ppt_w/2"/>
                                          </p:val>
                                        </p:tav>
                                        <p:tav tm="100000">
                                          <p:val>
                                            <p:strVal val="#ppt_x"/>
                                          </p:val>
                                        </p:tav>
                                      </p:tavLst>
                                    </p:anim>
                                    <p:anim calcmode="lin" valueType="num">
                                      <p:cBhvr additive="base">
                                        <p:cTn id="54" dur="500" fill="hold"/>
                                        <p:tgtEl>
                                          <p:spTgt spid="30"/>
                                        </p:tgtEl>
                                        <p:attrNameLst>
                                          <p:attrName>ppt_y</p:attrName>
                                        </p:attrNameLst>
                                      </p:cBhvr>
                                      <p:tavLst>
                                        <p:tav tm="0">
                                          <p:val>
                                            <p:strVal val="#ppt_y"/>
                                          </p:val>
                                        </p:tav>
                                        <p:tav tm="100000">
                                          <p:val>
                                            <p:strVal val="#ppt_y"/>
                                          </p:val>
                                        </p:tav>
                                      </p:tavLst>
                                    </p:anim>
                                  </p:childTnLst>
                                </p:cTn>
                              </p:par>
                            </p:childTnLst>
                          </p:cTn>
                        </p:par>
                        <p:par>
                          <p:cTn id="55" fill="hold">
                            <p:stCondLst>
                              <p:cond delay="2000"/>
                            </p:stCondLst>
                            <p:childTnLst>
                              <p:par>
                                <p:cTn id="56" presetID="2" presetClass="entr" presetSubtype="2"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1+#ppt_w/2"/>
                                          </p:val>
                                        </p:tav>
                                        <p:tav tm="100000">
                                          <p:val>
                                            <p:strVal val="#ppt_x"/>
                                          </p:val>
                                        </p:tav>
                                      </p:tavLst>
                                    </p:anim>
                                    <p:anim calcmode="lin" valueType="num">
                                      <p:cBhvr additive="base">
                                        <p:cTn id="59" dur="500" fill="hold"/>
                                        <p:tgtEl>
                                          <p:spTgt spid="18"/>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5"/>
                                        </p:tgtEl>
                                        <p:attrNameLst>
                                          <p:attrName>style.visibility</p:attrName>
                                        </p:attrNameLst>
                                      </p:cBhvr>
                                      <p:to>
                                        <p:strVal val="visible"/>
                                      </p:to>
                                    </p:set>
                                    <p:anim calcmode="lin" valueType="num">
                                      <p:cBhvr additive="base">
                                        <p:cTn id="62" dur="500" fill="hold"/>
                                        <p:tgtEl>
                                          <p:spTgt spid="5"/>
                                        </p:tgtEl>
                                        <p:attrNameLst>
                                          <p:attrName>ppt_x</p:attrName>
                                        </p:attrNameLst>
                                      </p:cBhvr>
                                      <p:tavLst>
                                        <p:tav tm="0">
                                          <p:val>
                                            <p:strVal val="1+#ppt_w/2"/>
                                          </p:val>
                                        </p:tav>
                                        <p:tav tm="100000">
                                          <p:val>
                                            <p:strVal val="#ppt_x"/>
                                          </p:val>
                                        </p:tav>
                                      </p:tavLst>
                                    </p:anim>
                                    <p:anim calcmode="lin" valueType="num">
                                      <p:cBhvr additive="base">
                                        <p:cTn id="63" dur="500" fill="hold"/>
                                        <p:tgtEl>
                                          <p:spTgt spid="5"/>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1+#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1+#ppt_w/2"/>
                                          </p:val>
                                        </p:tav>
                                        <p:tav tm="100000">
                                          <p:val>
                                            <p:strVal val="#ppt_x"/>
                                          </p:val>
                                        </p:tav>
                                      </p:tavLst>
                                    </p:anim>
                                    <p:anim calcmode="lin" valueType="num">
                                      <p:cBhvr additive="base">
                                        <p:cTn id="71" dur="500" fill="hold"/>
                                        <p:tgtEl>
                                          <p:spTgt spid="23"/>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500" fill="hold"/>
                                        <p:tgtEl>
                                          <p:spTgt spid="24"/>
                                        </p:tgtEl>
                                        <p:attrNameLst>
                                          <p:attrName>ppt_x</p:attrName>
                                        </p:attrNameLst>
                                      </p:cBhvr>
                                      <p:tavLst>
                                        <p:tav tm="0">
                                          <p:val>
                                            <p:strVal val="1+#ppt_w/2"/>
                                          </p:val>
                                        </p:tav>
                                        <p:tav tm="100000">
                                          <p:val>
                                            <p:strVal val="#ppt_x"/>
                                          </p:val>
                                        </p:tav>
                                      </p:tavLst>
                                    </p:anim>
                                    <p:anim calcmode="lin" valueType="num">
                                      <p:cBhvr additive="base">
                                        <p:cTn id="75" dur="500" fill="hold"/>
                                        <p:tgtEl>
                                          <p:spTgt spid="24"/>
                                        </p:tgtEl>
                                        <p:attrNameLst>
                                          <p:attrName>ppt_y</p:attrName>
                                        </p:attrNameLst>
                                      </p:cBhvr>
                                      <p:tavLst>
                                        <p:tav tm="0">
                                          <p:val>
                                            <p:strVal val="#ppt_y"/>
                                          </p:val>
                                        </p:tav>
                                        <p:tav tm="100000">
                                          <p:val>
                                            <p:strVal val="#ppt_y"/>
                                          </p:val>
                                        </p:tav>
                                      </p:tavLst>
                                    </p:anim>
                                  </p:childTnLst>
                                </p:cTn>
                              </p:par>
                            </p:childTnLst>
                          </p:cTn>
                        </p:par>
                        <p:par>
                          <p:cTn id="76" fill="hold">
                            <p:stCondLst>
                              <p:cond delay="2500"/>
                            </p:stCondLst>
                            <p:childTnLst>
                              <p:par>
                                <p:cTn id="77" presetID="2" presetClass="entr" presetSubtype="12" fill="hold" nodeType="after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0-#ppt_w/2"/>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par>
                                <p:cTn id="81" presetID="2" presetClass="entr" presetSubtype="12" fill="hold" grpId="0" nodeType="withEffect">
                                  <p:stCondLst>
                                    <p:cond delay="0"/>
                                  </p:stCondLst>
                                  <p:childTnLst>
                                    <p:set>
                                      <p:cBhvr>
                                        <p:cTn id="82" dur="1" fill="hold">
                                          <p:stCondLst>
                                            <p:cond delay="0"/>
                                          </p:stCondLst>
                                        </p:cTn>
                                        <p:tgtEl>
                                          <p:spTgt spid="6"/>
                                        </p:tgtEl>
                                        <p:attrNameLst>
                                          <p:attrName>style.visibility</p:attrName>
                                        </p:attrNameLst>
                                      </p:cBhvr>
                                      <p:to>
                                        <p:strVal val="visible"/>
                                      </p:to>
                                    </p:set>
                                    <p:anim calcmode="lin" valueType="num">
                                      <p:cBhvr additive="base">
                                        <p:cTn id="83" dur="500" fill="hold"/>
                                        <p:tgtEl>
                                          <p:spTgt spid="6"/>
                                        </p:tgtEl>
                                        <p:attrNameLst>
                                          <p:attrName>ppt_x</p:attrName>
                                        </p:attrNameLst>
                                      </p:cBhvr>
                                      <p:tavLst>
                                        <p:tav tm="0">
                                          <p:val>
                                            <p:strVal val="0-#ppt_w/2"/>
                                          </p:val>
                                        </p:tav>
                                        <p:tav tm="100000">
                                          <p:val>
                                            <p:strVal val="#ppt_x"/>
                                          </p:val>
                                        </p:tav>
                                      </p:tavLst>
                                    </p:anim>
                                    <p:anim calcmode="lin" valueType="num">
                                      <p:cBhvr additive="base">
                                        <p:cTn id="84" dur="500" fill="hold"/>
                                        <p:tgtEl>
                                          <p:spTgt spid="6"/>
                                        </p:tgtEl>
                                        <p:attrNameLst>
                                          <p:attrName>ppt_y</p:attrName>
                                        </p:attrNameLst>
                                      </p:cBhvr>
                                      <p:tavLst>
                                        <p:tav tm="0">
                                          <p:val>
                                            <p:strVal val="1+#ppt_h/2"/>
                                          </p:val>
                                        </p:tav>
                                        <p:tav tm="100000">
                                          <p:val>
                                            <p:strVal val="#ppt_y"/>
                                          </p:val>
                                        </p:tav>
                                      </p:tavLst>
                                    </p:anim>
                                  </p:childTnLst>
                                </p:cTn>
                              </p:par>
                              <p:par>
                                <p:cTn id="85" presetID="2" presetClass="entr" presetSubtype="12"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500" fill="hold"/>
                                        <p:tgtEl>
                                          <p:spTgt spid="32"/>
                                        </p:tgtEl>
                                        <p:attrNameLst>
                                          <p:attrName>ppt_x</p:attrName>
                                        </p:attrNameLst>
                                      </p:cBhvr>
                                      <p:tavLst>
                                        <p:tav tm="0">
                                          <p:val>
                                            <p:strVal val="0-#ppt_w/2"/>
                                          </p:val>
                                        </p:tav>
                                        <p:tav tm="100000">
                                          <p:val>
                                            <p:strVal val="#ppt_x"/>
                                          </p:val>
                                        </p:tav>
                                      </p:tavLst>
                                    </p:anim>
                                    <p:anim calcmode="lin" valueType="num">
                                      <p:cBhvr additive="base">
                                        <p:cTn id="88" dur="500" fill="hold"/>
                                        <p:tgtEl>
                                          <p:spTgt spid="32"/>
                                        </p:tgtEl>
                                        <p:attrNameLst>
                                          <p:attrName>ppt_y</p:attrName>
                                        </p:attrNameLst>
                                      </p:cBhvr>
                                      <p:tavLst>
                                        <p:tav tm="0">
                                          <p:val>
                                            <p:strVal val="1+#ppt_h/2"/>
                                          </p:val>
                                        </p:tav>
                                        <p:tav tm="100000">
                                          <p:val>
                                            <p:strVal val="#ppt_y"/>
                                          </p:val>
                                        </p:tav>
                                      </p:tavLst>
                                    </p:anim>
                                  </p:childTnLst>
                                </p:cTn>
                              </p:par>
                              <p:par>
                                <p:cTn id="89" presetID="2" presetClass="entr" presetSubtype="12"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0-#ppt_w/2"/>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12"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0-#ppt_w/2"/>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animBg="1"/>
      <p:bldP spid="4" grpId="0" animBg="1"/>
      <p:bldP spid="5" grpId="0" animBg="1"/>
      <p:bldP spid="6" grpId="0" animBg="1"/>
      <p:bldP spid="17" grpId="0" animBg="1"/>
      <p:bldP spid="20" grpId="0" animBg="1"/>
      <p:bldP spid="21" grpId="0" animBg="1"/>
      <p:bldP spid="22" grpId="0" animBg="1"/>
      <p:bldP spid="24" grpId="0" animBg="1"/>
      <p:bldP spid="23" grpId="0" animBg="1"/>
      <p:bldP spid="25" grpId="0" animBg="1"/>
      <p:bldP spid="26" grpId="0" animBg="1"/>
      <p:bldP spid="28" grpId="0" animBg="1"/>
      <p:bldP spid="29" grpId="0"/>
      <p:bldP spid="30" grpId="0"/>
      <p:bldP spid="31" grpId="0"/>
      <p:bldP spid="32" grpId="0"/>
      <p:bldP spid="3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Introduction Of </a:t>
            </a:r>
          </a:p>
          <a:p>
            <a:pPr algn="ctr"/>
            <a:r>
              <a:rPr lang="en-US" sz="2800" b="1" dirty="0">
                <a:latin typeface="Times New Roman" panose="02020603050405020304" pitchFamily="18" charset="0"/>
                <a:cs typeface="Times New Roman" panose="02020603050405020304" pitchFamily="18" charset="0"/>
              </a:rPr>
              <a:t>Project</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076604" y="2227531"/>
            <a:ext cx="1371600"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Name</a:t>
            </a:r>
            <a:r>
              <a:rPr lang="en-US" sz="1600" b="1" dirty="0">
                <a:solidFill>
                  <a:schemeClr val="bg1"/>
                </a:solidFill>
              </a:rPr>
              <a:t> :</a:t>
            </a:r>
          </a:p>
        </p:txBody>
      </p:sp>
      <p:sp>
        <p:nvSpPr>
          <p:cNvPr id="47" name="Rectangle 46"/>
          <p:cNvSpPr/>
          <p:nvPr/>
        </p:nvSpPr>
        <p:spPr>
          <a:xfrm>
            <a:off x="3121290" y="2229524"/>
            <a:ext cx="1371600" cy="246221"/>
          </a:xfrm>
          <a:prstGeom prst="rect">
            <a:avLst/>
          </a:prstGeom>
        </p:spPr>
        <p:txBody>
          <a:bodyPr wrap="square" lIns="0" tIns="0" rIns="0" bIns="0">
            <a:spAutoFit/>
          </a:bodyPr>
          <a:lstStyle/>
          <a:p>
            <a:pPr algn="ctr"/>
            <a:endParaRPr lang="en-US" sz="1600" b="1" dirty="0">
              <a:solidFill>
                <a:schemeClr val="bg1"/>
              </a:solidFill>
            </a:endParaRPr>
          </a:p>
        </p:txBody>
      </p:sp>
      <p:sp>
        <p:nvSpPr>
          <p:cNvPr id="49" name="Rectangle 48"/>
          <p:cNvSpPr/>
          <p:nvPr/>
        </p:nvSpPr>
        <p:spPr>
          <a:xfrm>
            <a:off x="7576999" y="2118746"/>
            <a:ext cx="1371600" cy="492443"/>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Email &amp; Web Address</a:t>
            </a:r>
          </a:p>
        </p:txBody>
      </p:sp>
      <p:sp>
        <p:nvSpPr>
          <p:cNvPr id="50" name="Rectangle 49"/>
          <p:cNvSpPr/>
          <p:nvPr/>
        </p:nvSpPr>
        <p:spPr>
          <a:xfrm>
            <a:off x="9651646" y="2220423"/>
            <a:ext cx="1662986"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Product :</a:t>
            </a:r>
          </a:p>
        </p:txBody>
      </p:sp>
      <p:sp>
        <p:nvSpPr>
          <p:cNvPr id="40" name="Rectangle 39"/>
          <p:cNvSpPr/>
          <p:nvPr/>
        </p:nvSpPr>
        <p:spPr>
          <a:xfrm>
            <a:off x="4231987" y="4666828"/>
            <a:ext cx="1560219"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Control </a:t>
            </a:r>
            <a:r>
              <a:rPr lang="en-US" sz="1600" b="1" dirty="0">
                <a:solidFill>
                  <a:schemeClr val="bg1"/>
                </a:solidFill>
              </a:rPr>
              <a:t>:</a:t>
            </a:r>
          </a:p>
        </p:txBody>
      </p:sp>
      <p:sp>
        <p:nvSpPr>
          <p:cNvPr id="41" name="Rectangle 40"/>
          <p:cNvSpPr/>
          <p:nvPr/>
        </p:nvSpPr>
        <p:spPr>
          <a:xfrm>
            <a:off x="6486258" y="4669595"/>
            <a:ext cx="1854437"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Company :</a:t>
            </a:r>
          </a:p>
        </p:txBody>
      </p:sp>
      <p:sp>
        <p:nvSpPr>
          <p:cNvPr id="73" name="Rectangle 72"/>
          <p:cNvSpPr/>
          <p:nvPr/>
        </p:nvSpPr>
        <p:spPr>
          <a:xfrm>
            <a:off x="982294" y="2793678"/>
            <a:ext cx="1560219" cy="492443"/>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Humming Byte Technologies</a:t>
            </a:r>
          </a:p>
        </p:txBody>
      </p:sp>
      <p:sp>
        <p:nvSpPr>
          <p:cNvPr id="74" name="Rectangle 73"/>
          <p:cNvSpPr/>
          <p:nvPr/>
        </p:nvSpPr>
        <p:spPr>
          <a:xfrm>
            <a:off x="5341798" y="2792395"/>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2021</a:t>
            </a:r>
          </a:p>
        </p:txBody>
      </p:sp>
      <p:sp>
        <p:nvSpPr>
          <p:cNvPr id="75" name="Rectangle 74"/>
          <p:cNvSpPr/>
          <p:nvPr/>
        </p:nvSpPr>
        <p:spPr>
          <a:xfrm>
            <a:off x="7482689" y="2791113"/>
            <a:ext cx="1560219" cy="492443"/>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hmbyte.com</a:t>
            </a:r>
          </a:p>
          <a:p>
            <a:pPr algn="ctr"/>
            <a:r>
              <a:rPr lang="en-US" sz="1600" b="1" dirty="0">
                <a:solidFill>
                  <a:schemeClr val="bg1"/>
                </a:solidFill>
                <a:latin typeface="Times New Roman" panose="02020603050405020304" pitchFamily="18" charset="0"/>
                <a:cs typeface="Times New Roman" panose="02020603050405020304" pitchFamily="18" charset="0"/>
              </a:rPr>
              <a:t>hr@hmbyte.com</a:t>
            </a:r>
          </a:p>
        </p:txBody>
      </p:sp>
      <p:sp>
        <p:nvSpPr>
          <p:cNvPr id="76" name="Rectangle 75"/>
          <p:cNvSpPr/>
          <p:nvPr/>
        </p:nvSpPr>
        <p:spPr>
          <a:xfrm>
            <a:off x="9651645" y="2784355"/>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Service Industry</a:t>
            </a:r>
          </a:p>
        </p:txBody>
      </p:sp>
      <p:sp>
        <p:nvSpPr>
          <p:cNvPr id="77" name="Rectangle 76"/>
          <p:cNvSpPr/>
          <p:nvPr/>
        </p:nvSpPr>
        <p:spPr>
          <a:xfrm>
            <a:off x="6606666" y="5263226"/>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Small Scale</a:t>
            </a:r>
          </a:p>
        </p:txBody>
      </p:sp>
      <p:sp>
        <p:nvSpPr>
          <p:cNvPr id="78" name="Rectangle 77"/>
          <p:cNvSpPr/>
          <p:nvPr/>
        </p:nvSpPr>
        <p:spPr>
          <a:xfrm>
            <a:off x="4220386" y="5224293"/>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Private</a:t>
            </a:r>
          </a:p>
        </p:txBody>
      </p:sp>
      <p:sp>
        <p:nvSpPr>
          <p:cNvPr id="93" name="Trapezoid 92"/>
          <p:cNvSpPr/>
          <p:nvPr/>
        </p:nvSpPr>
        <p:spPr>
          <a:xfrm rot="5400000">
            <a:off x="276213" y="815093"/>
            <a:ext cx="3567163" cy="3099747"/>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94"/>
          <p:cNvSpPr/>
          <p:nvPr/>
        </p:nvSpPr>
        <p:spPr>
          <a:xfrm>
            <a:off x="1151394" y="1477441"/>
            <a:ext cx="1371600" cy="492443"/>
          </a:xfrm>
          <a:prstGeom prst="rect">
            <a:avLst/>
          </a:prstGeom>
        </p:spPr>
        <p:txBody>
          <a:bodyPr wrap="square" lIns="0" tIns="0" rIns="0" bIns="0">
            <a:spAutoFit/>
          </a:bodyPr>
          <a:lstStyle/>
          <a:p>
            <a:pPr algn="ctr"/>
            <a:r>
              <a:rPr lang="en-US" sz="1600" b="1" dirty="0">
                <a:latin typeface="Times New Roman" panose="02020603050405020304" pitchFamily="18" charset="0"/>
                <a:cs typeface="Times New Roman" panose="02020603050405020304" pitchFamily="18" charset="0"/>
              </a:rPr>
              <a:t>Problem Statement </a:t>
            </a:r>
            <a:r>
              <a:rPr lang="en-US" sz="1600" b="1" dirty="0"/>
              <a:t>:</a:t>
            </a:r>
            <a:endParaRPr lang="en-US" sz="1600" b="1" dirty="0">
              <a:solidFill>
                <a:schemeClr val="bg1"/>
              </a:solidFill>
            </a:endParaRPr>
          </a:p>
        </p:txBody>
      </p:sp>
      <p:sp>
        <p:nvSpPr>
          <p:cNvPr id="96" name="Rectangle 95"/>
          <p:cNvSpPr/>
          <p:nvPr/>
        </p:nvSpPr>
        <p:spPr>
          <a:xfrm>
            <a:off x="3674087" y="2106413"/>
            <a:ext cx="1371600" cy="246221"/>
          </a:xfrm>
          <a:prstGeom prst="rect">
            <a:avLst/>
          </a:prstGeom>
        </p:spPr>
        <p:txBody>
          <a:bodyPr wrap="square" lIns="0" tIns="0" rIns="0" bIns="0">
            <a:spAutoFit/>
          </a:bodyPr>
          <a:lstStyle/>
          <a:p>
            <a:pPr algn="ctr"/>
            <a:r>
              <a:rPr lang="en-US" sz="1600" b="1" dirty="0">
                <a:solidFill>
                  <a:schemeClr val="bg1"/>
                </a:solidFill>
              </a:rPr>
              <a:t> :</a:t>
            </a:r>
          </a:p>
        </p:txBody>
      </p:sp>
      <p:sp>
        <p:nvSpPr>
          <p:cNvPr id="98" name="Rectangle 97"/>
          <p:cNvSpPr/>
          <p:nvPr/>
        </p:nvSpPr>
        <p:spPr>
          <a:xfrm>
            <a:off x="7576999" y="2118747"/>
            <a:ext cx="1371600" cy="492443"/>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Email &amp; Web Address</a:t>
            </a:r>
          </a:p>
        </p:txBody>
      </p:sp>
      <p:sp>
        <p:nvSpPr>
          <p:cNvPr id="100" name="Rectangle 99"/>
          <p:cNvSpPr/>
          <p:nvPr/>
        </p:nvSpPr>
        <p:spPr>
          <a:xfrm>
            <a:off x="1066134" y="2037322"/>
            <a:ext cx="1560219" cy="1477328"/>
          </a:xfrm>
          <a:prstGeom prst="rect">
            <a:avLst/>
          </a:prstGeom>
        </p:spPr>
        <p:txBody>
          <a:bodyPr wrap="square" lIns="0" tIns="0" rIns="0" bIns="0" anchor="ctr">
            <a:spAutoFit/>
          </a:bodyPr>
          <a:lstStyle/>
          <a:p>
            <a:pPr algn="ctr"/>
            <a:r>
              <a:rPr lang="en-US" sz="1600" dirty="0">
                <a:latin typeface="Times New Roman" panose="02020603050405020304" pitchFamily="18" charset="0"/>
                <a:cs typeface="Times New Roman" panose="02020603050405020304" pitchFamily="18" charset="0"/>
              </a:rPr>
              <a:t>Traditional water canal systems face issues like manual operation, water wastage, and inefficiency</a:t>
            </a:r>
            <a:r>
              <a:rPr lang="en-US" sz="1600" dirty="0"/>
              <a:t>.</a:t>
            </a: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02" name="Rectangle 101"/>
          <p:cNvSpPr/>
          <p:nvPr/>
        </p:nvSpPr>
        <p:spPr>
          <a:xfrm>
            <a:off x="7482689" y="2791114"/>
            <a:ext cx="1560219" cy="492443"/>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hmbyte.com</a:t>
            </a:r>
          </a:p>
          <a:p>
            <a:pPr algn="ctr"/>
            <a:r>
              <a:rPr lang="en-US" sz="1600" b="1" dirty="0">
                <a:solidFill>
                  <a:schemeClr val="bg1"/>
                </a:solidFill>
                <a:latin typeface="Times New Roman" panose="02020603050405020304" pitchFamily="18" charset="0"/>
                <a:cs typeface="Times New Roman" panose="02020603050405020304" pitchFamily="18" charset="0"/>
              </a:rPr>
              <a:t>hr@hmbyte.com</a:t>
            </a:r>
          </a:p>
        </p:txBody>
      </p:sp>
      <p:sp>
        <p:nvSpPr>
          <p:cNvPr id="104" name="Rectangle 103"/>
          <p:cNvSpPr/>
          <p:nvPr/>
        </p:nvSpPr>
        <p:spPr>
          <a:xfrm>
            <a:off x="9651646" y="2220424"/>
            <a:ext cx="1662986"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Product :</a:t>
            </a:r>
          </a:p>
        </p:txBody>
      </p:sp>
      <p:sp>
        <p:nvSpPr>
          <p:cNvPr id="105" name="Rectangle 104"/>
          <p:cNvSpPr/>
          <p:nvPr/>
        </p:nvSpPr>
        <p:spPr>
          <a:xfrm>
            <a:off x="9651645" y="2784356"/>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Service Industry</a:t>
            </a:r>
          </a:p>
        </p:txBody>
      </p:sp>
      <p:sp>
        <p:nvSpPr>
          <p:cNvPr id="106" name="Trapezoid 105"/>
          <p:cNvSpPr/>
          <p:nvPr/>
        </p:nvSpPr>
        <p:spPr>
          <a:xfrm rot="5400000">
            <a:off x="2605049" y="3662965"/>
            <a:ext cx="3153352" cy="3257538"/>
          </a:xfrm>
          <a:prstGeom prst="trapezoid">
            <a:avLst>
              <a:gd name="adj" fmla="val 16873"/>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le 109"/>
          <p:cNvSpPr/>
          <p:nvPr/>
        </p:nvSpPr>
        <p:spPr>
          <a:xfrm>
            <a:off x="3121290" y="2229526"/>
            <a:ext cx="1371600" cy="246221"/>
          </a:xfrm>
          <a:prstGeom prst="rect">
            <a:avLst/>
          </a:prstGeom>
        </p:spPr>
        <p:txBody>
          <a:bodyPr wrap="square" lIns="0" tIns="0" rIns="0" bIns="0">
            <a:spAutoFit/>
          </a:bodyPr>
          <a:lstStyle/>
          <a:p>
            <a:pPr algn="ctr"/>
            <a:endParaRPr lang="en-US" sz="1600" b="1" dirty="0">
              <a:solidFill>
                <a:schemeClr val="bg1"/>
              </a:solidFill>
            </a:endParaRPr>
          </a:p>
        </p:txBody>
      </p:sp>
      <p:sp>
        <p:nvSpPr>
          <p:cNvPr id="111" name="Rectangle 110"/>
          <p:cNvSpPr/>
          <p:nvPr/>
        </p:nvSpPr>
        <p:spPr>
          <a:xfrm>
            <a:off x="5410200" y="2220426"/>
            <a:ext cx="1426435" cy="246221"/>
          </a:xfrm>
          <a:prstGeom prst="rect">
            <a:avLst/>
          </a:prstGeom>
        </p:spPr>
        <p:txBody>
          <a:bodyPr wrap="square" lIns="0" tIns="0" rIns="0" bIns="0">
            <a:spAutoFit/>
          </a:bodyPr>
          <a:lstStyle/>
          <a:p>
            <a:pPr algn="ctr"/>
            <a:r>
              <a:rPr lang="en-US" sz="1600" b="1" dirty="0">
                <a:solidFill>
                  <a:schemeClr val="bg1"/>
                </a:solidFill>
              </a:rPr>
              <a:t>:</a:t>
            </a:r>
          </a:p>
        </p:txBody>
      </p:sp>
      <p:sp>
        <p:nvSpPr>
          <p:cNvPr id="112" name="Rectangle 111"/>
          <p:cNvSpPr/>
          <p:nvPr/>
        </p:nvSpPr>
        <p:spPr>
          <a:xfrm>
            <a:off x="7576999" y="2118748"/>
            <a:ext cx="1371600" cy="492443"/>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Email &amp; Web Address</a:t>
            </a:r>
          </a:p>
        </p:txBody>
      </p:sp>
      <p:sp>
        <p:nvSpPr>
          <p:cNvPr id="116" name="Rectangle 115"/>
          <p:cNvSpPr/>
          <p:nvPr/>
        </p:nvSpPr>
        <p:spPr>
          <a:xfrm>
            <a:off x="7482689" y="2791115"/>
            <a:ext cx="1560219" cy="492443"/>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hmbyte.com</a:t>
            </a:r>
          </a:p>
          <a:p>
            <a:pPr algn="ctr"/>
            <a:r>
              <a:rPr lang="en-US" sz="1600" b="1" dirty="0">
                <a:solidFill>
                  <a:schemeClr val="bg1"/>
                </a:solidFill>
                <a:latin typeface="Times New Roman" panose="02020603050405020304" pitchFamily="18" charset="0"/>
                <a:cs typeface="Times New Roman" panose="02020603050405020304" pitchFamily="18" charset="0"/>
              </a:rPr>
              <a:t>hr@hmbyte.com</a:t>
            </a:r>
          </a:p>
        </p:txBody>
      </p:sp>
      <p:sp>
        <p:nvSpPr>
          <p:cNvPr id="118" name="Rectangle 117"/>
          <p:cNvSpPr/>
          <p:nvPr/>
        </p:nvSpPr>
        <p:spPr>
          <a:xfrm>
            <a:off x="6486258" y="4669596"/>
            <a:ext cx="1854437"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Company :</a:t>
            </a:r>
          </a:p>
        </p:txBody>
      </p:sp>
      <p:sp>
        <p:nvSpPr>
          <p:cNvPr id="119" name="Rectangle 118"/>
          <p:cNvSpPr/>
          <p:nvPr/>
        </p:nvSpPr>
        <p:spPr>
          <a:xfrm>
            <a:off x="6606666" y="5263227"/>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Small Scale</a:t>
            </a:r>
          </a:p>
        </p:txBody>
      </p:sp>
      <p:sp>
        <p:nvSpPr>
          <p:cNvPr id="121" name="Rectangle 120"/>
          <p:cNvSpPr/>
          <p:nvPr/>
        </p:nvSpPr>
        <p:spPr>
          <a:xfrm>
            <a:off x="9651646" y="2220425"/>
            <a:ext cx="1662986"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Product :</a:t>
            </a:r>
          </a:p>
        </p:txBody>
      </p:sp>
      <p:sp>
        <p:nvSpPr>
          <p:cNvPr id="122" name="Rectangle 121"/>
          <p:cNvSpPr/>
          <p:nvPr/>
        </p:nvSpPr>
        <p:spPr>
          <a:xfrm>
            <a:off x="9651645" y="2784357"/>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Service Industry</a:t>
            </a:r>
          </a:p>
        </p:txBody>
      </p:sp>
      <p:sp>
        <p:nvSpPr>
          <p:cNvPr id="129" name="Rectangle 128"/>
          <p:cNvSpPr/>
          <p:nvPr/>
        </p:nvSpPr>
        <p:spPr>
          <a:xfrm>
            <a:off x="7576999" y="2118749"/>
            <a:ext cx="1371600" cy="492443"/>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Email &amp; Web Address</a:t>
            </a:r>
          </a:p>
        </p:txBody>
      </p:sp>
      <p:sp>
        <p:nvSpPr>
          <p:cNvPr id="133" name="Rectangle 132"/>
          <p:cNvSpPr/>
          <p:nvPr/>
        </p:nvSpPr>
        <p:spPr>
          <a:xfrm>
            <a:off x="7482689" y="2791116"/>
            <a:ext cx="1560219" cy="492443"/>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hmbyte.com</a:t>
            </a:r>
          </a:p>
          <a:p>
            <a:pPr algn="ctr"/>
            <a:r>
              <a:rPr lang="en-US" sz="1600" b="1" dirty="0">
                <a:solidFill>
                  <a:schemeClr val="bg1"/>
                </a:solidFill>
                <a:latin typeface="Times New Roman" panose="02020603050405020304" pitchFamily="18" charset="0"/>
                <a:cs typeface="Times New Roman" panose="02020603050405020304" pitchFamily="18" charset="0"/>
              </a:rPr>
              <a:t>hr@hmbyte.com</a:t>
            </a:r>
          </a:p>
        </p:txBody>
      </p:sp>
      <p:sp>
        <p:nvSpPr>
          <p:cNvPr id="135" name="Rectangle 134"/>
          <p:cNvSpPr/>
          <p:nvPr/>
        </p:nvSpPr>
        <p:spPr>
          <a:xfrm>
            <a:off x="3352951" y="4147004"/>
            <a:ext cx="1560219" cy="246221"/>
          </a:xfrm>
          <a:prstGeom prst="rect">
            <a:avLst/>
          </a:prstGeom>
        </p:spPr>
        <p:txBody>
          <a:bodyPr wrap="square" lIns="0" tIns="0" rIns="0" bIns="0">
            <a:spAutoFit/>
          </a:bodyPr>
          <a:lstStyle/>
          <a:p>
            <a:pPr algn="ctr"/>
            <a:r>
              <a:rPr lang="en-US" sz="1600" b="1" dirty="0">
                <a:latin typeface="Times New Roman" panose="02020603050405020304" pitchFamily="18" charset="0"/>
                <a:cs typeface="Times New Roman" panose="02020603050405020304" pitchFamily="18" charset="0"/>
              </a:rPr>
              <a:t>Project Scope </a:t>
            </a:r>
            <a:r>
              <a:rPr lang="en-US" sz="1600" dirty="0">
                <a:latin typeface="Times New Roman" panose="02020603050405020304" pitchFamily="18" charset="0"/>
                <a:cs typeface="Times New Roman" panose="02020603050405020304" pitchFamily="18" charset="0"/>
              </a:rPr>
              <a:t>: </a:t>
            </a: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36" name="Rectangle 135"/>
          <p:cNvSpPr/>
          <p:nvPr/>
        </p:nvSpPr>
        <p:spPr>
          <a:xfrm>
            <a:off x="3221217" y="4540663"/>
            <a:ext cx="1560219" cy="1969770"/>
          </a:xfrm>
          <a:prstGeom prst="rect">
            <a:avLst/>
          </a:prstGeom>
        </p:spPr>
        <p:txBody>
          <a:bodyPr wrap="square" lIns="0" tIns="0" rIns="0" bIns="0">
            <a:spAutoFit/>
          </a:bodyPr>
          <a:lstStyle/>
          <a:p>
            <a:pPr algn="ctr"/>
            <a:r>
              <a:rPr lang="en-US" sz="1600" dirty="0">
                <a:latin typeface="Times New Roman" panose="02020603050405020304" pitchFamily="18" charset="0"/>
                <a:cs typeface="Times New Roman" panose="02020603050405020304" pitchFamily="18" charset="0"/>
              </a:rPr>
              <a:t>This project focuses on designing an IoT-based system to automate and optimize water distribution in canal networks.</a:t>
            </a:r>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38" name="Rectangle 137"/>
          <p:cNvSpPr/>
          <p:nvPr/>
        </p:nvSpPr>
        <p:spPr>
          <a:xfrm>
            <a:off x="6486258" y="4669597"/>
            <a:ext cx="1854437" cy="246221"/>
          </a:xfrm>
          <a:prstGeom prst="rect">
            <a:avLst/>
          </a:prstGeom>
        </p:spPr>
        <p:txBody>
          <a:bodyPr wrap="square" lIns="0" tIns="0" rIns="0" bIns="0">
            <a:spAutoFit/>
          </a:bodyPr>
          <a:lstStyle/>
          <a:p>
            <a:pPr algn="ctr"/>
            <a:r>
              <a:rPr lang="en-US" sz="1600" b="1" dirty="0">
                <a:solidFill>
                  <a:schemeClr val="bg1"/>
                </a:solidFill>
                <a:latin typeface="Berlin Sans FB Demi" panose="020E0802020502020306" pitchFamily="34" charset="0"/>
              </a:rPr>
              <a:t>Type Of Company :</a:t>
            </a:r>
          </a:p>
        </p:txBody>
      </p:sp>
      <p:sp>
        <p:nvSpPr>
          <p:cNvPr id="139" name="Rectangle 138"/>
          <p:cNvSpPr/>
          <p:nvPr/>
        </p:nvSpPr>
        <p:spPr>
          <a:xfrm>
            <a:off x="6606666" y="5263228"/>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Small Scale</a:t>
            </a:r>
          </a:p>
        </p:txBody>
      </p:sp>
      <p:sp>
        <p:nvSpPr>
          <p:cNvPr id="142" name="Rectangle 141"/>
          <p:cNvSpPr/>
          <p:nvPr/>
        </p:nvSpPr>
        <p:spPr>
          <a:xfrm>
            <a:off x="9651645" y="2784358"/>
            <a:ext cx="1560219" cy="246221"/>
          </a:xfrm>
          <a:prstGeom prst="rect">
            <a:avLst/>
          </a:prstGeom>
        </p:spPr>
        <p:txBody>
          <a:bodyPr wrap="square" lIns="0" tIns="0" rIns="0" bIns="0">
            <a:spAutoFit/>
          </a:bodyPr>
          <a:lstStyle/>
          <a:p>
            <a:pPr algn="ctr"/>
            <a:r>
              <a:rPr lang="en-US" sz="1600" b="1" dirty="0">
                <a:solidFill>
                  <a:schemeClr val="bg1"/>
                </a:solidFill>
                <a:latin typeface="Times New Roman" panose="02020603050405020304" pitchFamily="18" charset="0"/>
                <a:cs typeface="Times New Roman" panose="02020603050405020304" pitchFamily="18" charset="0"/>
              </a:rPr>
              <a:t>Service Industry</a:t>
            </a:r>
          </a:p>
        </p:txBody>
      </p:sp>
      <p:sp>
        <p:nvSpPr>
          <p:cNvPr id="144" name="Trapezoid 143"/>
          <p:cNvSpPr/>
          <p:nvPr/>
        </p:nvSpPr>
        <p:spPr>
          <a:xfrm rot="5400000">
            <a:off x="8434879" y="910301"/>
            <a:ext cx="2974113" cy="2934368"/>
          </a:xfrm>
          <a:prstGeom prst="trapezoid">
            <a:avLst>
              <a:gd name="adj" fmla="val 25338"/>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Trapezoid 144"/>
          <p:cNvSpPr/>
          <p:nvPr/>
        </p:nvSpPr>
        <p:spPr>
          <a:xfrm rot="5400000">
            <a:off x="6499238" y="3742480"/>
            <a:ext cx="2974111" cy="283792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146"/>
          <p:cNvSpPr/>
          <p:nvPr/>
        </p:nvSpPr>
        <p:spPr>
          <a:xfrm>
            <a:off x="3121290" y="2229528"/>
            <a:ext cx="1371600" cy="246221"/>
          </a:xfrm>
          <a:prstGeom prst="rect">
            <a:avLst/>
          </a:prstGeom>
        </p:spPr>
        <p:txBody>
          <a:bodyPr wrap="square" lIns="0" tIns="0" rIns="0" bIns="0">
            <a:spAutoFit/>
          </a:bodyPr>
          <a:lstStyle/>
          <a:p>
            <a:pPr algn="ctr"/>
            <a:endParaRPr lang="en-US" sz="1600" b="1" dirty="0">
              <a:solidFill>
                <a:schemeClr val="bg1"/>
              </a:solidFill>
            </a:endParaRPr>
          </a:p>
        </p:txBody>
      </p:sp>
      <p:sp>
        <p:nvSpPr>
          <p:cNvPr id="149" name="Rectangle 148"/>
          <p:cNvSpPr/>
          <p:nvPr/>
        </p:nvSpPr>
        <p:spPr>
          <a:xfrm>
            <a:off x="8944687" y="1363182"/>
            <a:ext cx="1371600" cy="492443"/>
          </a:xfrm>
          <a:prstGeom prst="rect">
            <a:avLst/>
          </a:prstGeom>
        </p:spPr>
        <p:txBody>
          <a:bodyPr wrap="square" lIns="0" tIns="0" rIns="0" bIns="0">
            <a:spAutoFit/>
          </a:bodyPr>
          <a:lstStyle/>
          <a:p>
            <a:pPr algn="ctr"/>
            <a:r>
              <a:rPr lang="en-US" sz="1600" b="1" dirty="0">
                <a:latin typeface="Times New Roman" panose="02020603050405020304" pitchFamily="18" charset="0"/>
                <a:cs typeface="Times New Roman" panose="02020603050405020304" pitchFamily="18" charset="0"/>
              </a:rPr>
              <a:t>IoT Advantage </a:t>
            </a:r>
            <a:r>
              <a:rPr lang="en-US" sz="1600" dirty="0"/>
              <a:t>:</a:t>
            </a:r>
            <a:endParaRPr lang="en-US" sz="1600" b="1" dirty="0">
              <a:solidFill>
                <a:schemeClr val="bg1"/>
              </a:solidFill>
              <a:latin typeface="Berlin Sans FB Demi" panose="020E0802020502020306" pitchFamily="34" charset="0"/>
            </a:endParaRPr>
          </a:p>
        </p:txBody>
      </p:sp>
      <p:sp>
        <p:nvSpPr>
          <p:cNvPr id="153" name="Rectangle 152"/>
          <p:cNvSpPr/>
          <p:nvPr/>
        </p:nvSpPr>
        <p:spPr>
          <a:xfrm>
            <a:off x="9190942" y="1867810"/>
            <a:ext cx="1560219" cy="1292662"/>
          </a:xfrm>
          <a:prstGeom prst="rect">
            <a:avLst/>
          </a:prstGeom>
        </p:spPr>
        <p:txBody>
          <a:bodyPr wrap="square" lIns="0" tIns="0" rIns="0" bIns="0" anchor="t">
            <a:spAutoFit/>
          </a:bodyPr>
          <a:lstStyle/>
          <a:p>
            <a:pPr algn="ctr"/>
            <a:r>
              <a:rPr lang="en-US" sz="1400" dirty="0">
                <a:latin typeface="Times New Roman" panose="02020603050405020304" pitchFamily="18" charset="0"/>
                <a:cs typeface="Times New Roman" panose="02020603050405020304" pitchFamily="18" charset="0"/>
              </a:rPr>
              <a:t>IoT enables automation, real-time monitoring, and precise control of water flow, enhancing efficiency.</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3" name="Trapezoid 2">
            <a:extLst>
              <a:ext uri="{FF2B5EF4-FFF2-40B4-BE49-F238E27FC236}">
                <a16:creationId xmlns:a16="http://schemas.microsoft.com/office/drawing/2014/main" id="{F35F219B-71E0-A9A7-FC8C-CD563A0ACA1D}"/>
              </a:ext>
            </a:extLst>
          </p:cNvPr>
          <p:cNvSpPr/>
          <p:nvPr/>
        </p:nvSpPr>
        <p:spPr>
          <a:xfrm rot="5400000">
            <a:off x="4439483" y="810030"/>
            <a:ext cx="3152043" cy="2934368"/>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A85359E-01A4-5B70-B5E0-BD6E1602B686}"/>
              </a:ext>
            </a:extLst>
          </p:cNvPr>
          <p:cNvSpPr txBox="1"/>
          <p:nvPr/>
        </p:nvSpPr>
        <p:spPr>
          <a:xfrm>
            <a:off x="5091186" y="1424690"/>
            <a:ext cx="151547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Background </a:t>
            </a:r>
            <a:r>
              <a:rPr lang="en-US" dirty="0"/>
              <a:t>:</a:t>
            </a:r>
          </a:p>
        </p:txBody>
      </p:sp>
      <p:sp>
        <p:nvSpPr>
          <p:cNvPr id="6" name="TextBox 5">
            <a:extLst>
              <a:ext uri="{FF2B5EF4-FFF2-40B4-BE49-F238E27FC236}">
                <a16:creationId xmlns:a16="http://schemas.microsoft.com/office/drawing/2014/main" id="{E902455D-BFF6-6F24-3DC9-AC28AE17AF1E}"/>
              </a:ext>
            </a:extLst>
          </p:cNvPr>
          <p:cNvSpPr txBox="1"/>
          <p:nvPr/>
        </p:nvSpPr>
        <p:spPr>
          <a:xfrm>
            <a:off x="4913170" y="1846689"/>
            <a:ext cx="1758071" cy="1169551"/>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Water management is crucial for agriculture and urban supply, requiring efficient distribution systems.</a:t>
            </a:r>
          </a:p>
        </p:txBody>
      </p:sp>
      <p:sp>
        <p:nvSpPr>
          <p:cNvPr id="7" name="TextBox 6">
            <a:extLst>
              <a:ext uri="{FF2B5EF4-FFF2-40B4-BE49-F238E27FC236}">
                <a16:creationId xmlns:a16="http://schemas.microsoft.com/office/drawing/2014/main" id="{77E41A68-0A18-235A-80B7-F32B258287D4}"/>
              </a:ext>
            </a:extLst>
          </p:cNvPr>
          <p:cNvSpPr txBox="1"/>
          <p:nvPr/>
        </p:nvSpPr>
        <p:spPr>
          <a:xfrm>
            <a:off x="7028653" y="4208559"/>
            <a:ext cx="121710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47AA646B-5EA1-E583-0765-B4CB6046FF6B}"/>
              </a:ext>
            </a:extLst>
          </p:cNvPr>
          <p:cNvSpPr txBox="1"/>
          <p:nvPr/>
        </p:nvSpPr>
        <p:spPr>
          <a:xfrm>
            <a:off x="6866215" y="4706959"/>
            <a:ext cx="1854437" cy="1169551"/>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Ensure minimal water wastage and effective resource management through smart technologies.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down)">
                                      <p:cBhvr>
                                        <p:cTn id="7" dur="580">
                                          <p:stCondLst>
                                            <p:cond delay="0"/>
                                          </p:stCondLst>
                                        </p:cTn>
                                        <p:tgtEl>
                                          <p:spTgt spid="93"/>
                                        </p:tgtEl>
                                      </p:cBhvr>
                                    </p:animEffect>
                                    <p:anim calcmode="lin" valueType="num">
                                      <p:cBhvr>
                                        <p:cTn id="8" dur="1822" tmFilter="0,0; 0.14,0.36; 0.43,0.73; 0.71,0.91; 1.0,1.0">
                                          <p:stCondLst>
                                            <p:cond delay="0"/>
                                          </p:stCondLst>
                                        </p:cTn>
                                        <p:tgtEl>
                                          <p:spTgt spid="9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3"/>
                                        </p:tgtEl>
                                        <p:attrNameLst>
                                          <p:attrName>ppt_y</p:attrName>
                                        </p:attrNameLst>
                                      </p:cBhvr>
                                      <p:tavLst>
                                        <p:tav tm="0" fmla="#ppt_y-sin(pi*$)/81">
                                          <p:val>
                                            <p:fltVal val="0"/>
                                          </p:val>
                                        </p:tav>
                                        <p:tav tm="100000">
                                          <p:val>
                                            <p:fltVal val="1"/>
                                          </p:val>
                                        </p:tav>
                                      </p:tavLst>
                                    </p:anim>
                                    <p:animScale>
                                      <p:cBhvr>
                                        <p:cTn id="13" dur="26">
                                          <p:stCondLst>
                                            <p:cond delay="650"/>
                                          </p:stCondLst>
                                        </p:cTn>
                                        <p:tgtEl>
                                          <p:spTgt spid="93"/>
                                        </p:tgtEl>
                                      </p:cBhvr>
                                      <p:to x="100000" y="60000"/>
                                    </p:animScale>
                                    <p:animScale>
                                      <p:cBhvr>
                                        <p:cTn id="14" dur="166" decel="50000">
                                          <p:stCondLst>
                                            <p:cond delay="676"/>
                                          </p:stCondLst>
                                        </p:cTn>
                                        <p:tgtEl>
                                          <p:spTgt spid="93"/>
                                        </p:tgtEl>
                                      </p:cBhvr>
                                      <p:to x="100000" y="100000"/>
                                    </p:animScale>
                                    <p:animScale>
                                      <p:cBhvr>
                                        <p:cTn id="15" dur="26">
                                          <p:stCondLst>
                                            <p:cond delay="1312"/>
                                          </p:stCondLst>
                                        </p:cTn>
                                        <p:tgtEl>
                                          <p:spTgt spid="93"/>
                                        </p:tgtEl>
                                      </p:cBhvr>
                                      <p:to x="100000" y="80000"/>
                                    </p:animScale>
                                    <p:animScale>
                                      <p:cBhvr>
                                        <p:cTn id="16" dur="166" decel="50000">
                                          <p:stCondLst>
                                            <p:cond delay="1338"/>
                                          </p:stCondLst>
                                        </p:cTn>
                                        <p:tgtEl>
                                          <p:spTgt spid="93"/>
                                        </p:tgtEl>
                                      </p:cBhvr>
                                      <p:to x="100000" y="100000"/>
                                    </p:animScale>
                                    <p:animScale>
                                      <p:cBhvr>
                                        <p:cTn id="17" dur="26">
                                          <p:stCondLst>
                                            <p:cond delay="1642"/>
                                          </p:stCondLst>
                                        </p:cTn>
                                        <p:tgtEl>
                                          <p:spTgt spid="93"/>
                                        </p:tgtEl>
                                      </p:cBhvr>
                                      <p:to x="100000" y="90000"/>
                                    </p:animScale>
                                    <p:animScale>
                                      <p:cBhvr>
                                        <p:cTn id="18" dur="166" decel="50000">
                                          <p:stCondLst>
                                            <p:cond delay="1668"/>
                                          </p:stCondLst>
                                        </p:cTn>
                                        <p:tgtEl>
                                          <p:spTgt spid="93"/>
                                        </p:tgtEl>
                                      </p:cBhvr>
                                      <p:to x="100000" y="100000"/>
                                    </p:animScale>
                                    <p:animScale>
                                      <p:cBhvr>
                                        <p:cTn id="19" dur="26">
                                          <p:stCondLst>
                                            <p:cond delay="1808"/>
                                          </p:stCondLst>
                                        </p:cTn>
                                        <p:tgtEl>
                                          <p:spTgt spid="93"/>
                                        </p:tgtEl>
                                      </p:cBhvr>
                                      <p:to x="100000" y="95000"/>
                                    </p:animScale>
                                    <p:animScale>
                                      <p:cBhvr>
                                        <p:cTn id="20" dur="166" decel="50000">
                                          <p:stCondLst>
                                            <p:cond delay="1834"/>
                                          </p:stCondLst>
                                        </p:cTn>
                                        <p:tgtEl>
                                          <p:spTgt spid="9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80">
                                          <p:stCondLst>
                                            <p:cond delay="0"/>
                                          </p:stCondLst>
                                        </p:cTn>
                                        <p:tgtEl>
                                          <p:spTgt spid="3"/>
                                        </p:tgtEl>
                                      </p:cBhvr>
                                    </p:animEffect>
                                    <p:anim calcmode="lin" valueType="num">
                                      <p:cBhvr>
                                        <p:cTn id="26"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gtEl>
                                      </p:cBhvr>
                                      <p:to x="100000" y="60000"/>
                                    </p:animScale>
                                    <p:animScale>
                                      <p:cBhvr>
                                        <p:cTn id="32" dur="166" decel="50000">
                                          <p:stCondLst>
                                            <p:cond delay="676"/>
                                          </p:stCondLst>
                                        </p:cTn>
                                        <p:tgtEl>
                                          <p:spTgt spid="3"/>
                                        </p:tgtEl>
                                      </p:cBhvr>
                                      <p:to x="100000" y="100000"/>
                                    </p:animScale>
                                    <p:animScale>
                                      <p:cBhvr>
                                        <p:cTn id="33" dur="26">
                                          <p:stCondLst>
                                            <p:cond delay="1312"/>
                                          </p:stCondLst>
                                        </p:cTn>
                                        <p:tgtEl>
                                          <p:spTgt spid="3"/>
                                        </p:tgtEl>
                                      </p:cBhvr>
                                      <p:to x="100000" y="80000"/>
                                    </p:animScale>
                                    <p:animScale>
                                      <p:cBhvr>
                                        <p:cTn id="34" dur="166" decel="50000">
                                          <p:stCondLst>
                                            <p:cond delay="1338"/>
                                          </p:stCondLst>
                                        </p:cTn>
                                        <p:tgtEl>
                                          <p:spTgt spid="3"/>
                                        </p:tgtEl>
                                      </p:cBhvr>
                                      <p:to x="100000" y="100000"/>
                                    </p:animScale>
                                    <p:animScale>
                                      <p:cBhvr>
                                        <p:cTn id="35" dur="26">
                                          <p:stCondLst>
                                            <p:cond delay="1642"/>
                                          </p:stCondLst>
                                        </p:cTn>
                                        <p:tgtEl>
                                          <p:spTgt spid="3"/>
                                        </p:tgtEl>
                                      </p:cBhvr>
                                      <p:to x="100000" y="90000"/>
                                    </p:animScale>
                                    <p:animScale>
                                      <p:cBhvr>
                                        <p:cTn id="36" dur="166" decel="50000">
                                          <p:stCondLst>
                                            <p:cond delay="1668"/>
                                          </p:stCondLst>
                                        </p:cTn>
                                        <p:tgtEl>
                                          <p:spTgt spid="3"/>
                                        </p:tgtEl>
                                      </p:cBhvr>
                                      <p:to x="100000" y="100000"/>
                                    </p:animScale>
                                    <p:animScale>
                                      <p:cBhvr>
                                        <p:cTn id="37" dur="26">
                                          <p:stCondLst>
                                            <p:cond delay="1808"/>
                                          </p:stCondLst>
                                        </p:cTn>
                                        <p:tgtEl>
                                          <p:spTgt spid="3"/>
                                        </p:tgtEl>
                                      </p:cBhvr>
                                      <p:to x="100000" y="95000"/>
                                    </p:animScale>
                                    <p:animScale>
                                      <p:cBhvr>
                                        <p:cTn id="38" dur="166" decel="50000">
                                          <p:stCondLst>
                                            <p:cond delay="1834"/>
                                          </p:stCondLst>
                                        </p:cTn>
                                        <p:tgtEl>
                                          <p:spTgt spid="3"/>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144"/>
                                        </p:tgtEl>
                                        <p:attrNameLst>
                                          <p:attrName>style.visibility</p:attrName>
                                        </p:attrNameLst>
                                      </p:cBhvr>
                                      <p:to>
                                        <p:strVal val="visible"/>
                                      </p:to>
                                    </p:set>
                                    <p:animEffect transition="in" filter="wipe(down)">
                                      <p:cBhvr>
                                        <p:cTn id="43" dur="580">
                                          <p:stCondLst>
                                            <p:cond delay="0"/>
                                          </p:stCondLst>
                                        </p:cTn>
                                        <p:tgtEl>
                                          <p:spTgt spid="144"/>
                                        </p:tgtEl>
                                      </p:cBhvr>
                                    </p:animEffect>
                                    <p:anim calcmode="lin" valueType="num">
                                      <p:cBhvr>
                                        <p:cTn id="44" dur="1822" tmFilter="0,0; 0.14,0.36; 0.43,0.73; 0.71,0.91; 1.0,1.0">
                                          <p:stCondLst>
                                            <p:cond delay="0"/>
                                          </p:stCondLst>
                                        </p:cTn>
                                        <p:tgtEl>
                                          <p:spTgt spid="144"/>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144"/>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144"/>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144"/>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144"/>
                                        </p:tgtEl>
                                        <p:attrNameLst>
                                          <p:attrName>ppt_y</p:attrName>
                                        </p:attrNameLst>
                                      </p:cBhvr>
                                      <p:tavLst>
                                        <p:tav tm="0" fmla="#ppt_y-sin(pi*$)/81">
                                          <p:val>
                                            <p:fltVal val="0"/>
                                          </p:val>
                                        </p:tav>
                                        <p:tav tm="100000">
                                          <p:val>
                                            <p:fltVal val="1"/>
                                          </p:val>
                                        </p:tav>
                                      </p:tavLst>
                                    </p:anim>
                                    <p:animScale>
                                      <p:cBhvr>
                                        <p:cTn id="49" dur="26">
                                          <p:stCondLst>
                                            <p:cond delay="650"/>
                                          </p:stCondLst>
                                        </p:cTn>
                                        <p:tgtEl>
                                          <p:spTgt spid="144"/>
                                        </p:tgtEl>
                                      </p:cBhvr>
                                      <p:to x="100000" y="60000"/>
                                    </p:animScale>
                                    <p:animScale>
                                      <p:cBhvr>
                                        <p:cTn id="50" dur="166" decel="50000">
                                          <p:stCondLst>
                                            <p:cond delay="676"/>
                                          </p:stCondLst>
                                        </p:cTn>
                                        <p:tgtEl>
                                          <p:spTgt spid="144"/>
                                        </p:tgtEl>
                                      </p:cBhvr>
                                      <p:to x="100000" y="100000"/>
                                    </p:animScale>
                                    <p:animScale>
                                      <p:cBhvr>
                                        <p:cTn id="51" dur="26">
                                          <p:stCondLst>
                                            <p:cond delay="1312"/>
                                          </p:stCondLst>
                                        </p:cTn>
                                        <p:tgtEl>
                                          <p:spTgt spid="144"/>
                                        </p:tgtEl>
                                      </p:cBhvr>
                                      <p:to x="100000" y="80000"/>
                                    </p:animScale>
                                    <p:animScale>
                                      <p:cBhvr>
                                        <p:cTn id="52" dur="166" decel="50000">
                                          <p:stCondLst>
                                            <p:cond delay="1338"/>
                                          </p:stCondLst>
                                        </p:cTn>
                                        <p:tgtEl>
                                          <p:spTgt spid="144"/>
                                        </p:tgtEl>
                                      </p:cBhvr>
                                      <p:to x="100000" y="100000"/>
                                    </p:animScale>
                                    <p:animScale>
                                      <p:cBhvr>
                                        <p:cTn id="53" dur="26">
                                          <p:stCondLst>
                                            <p:cond delay="1642"/>
                                          </p:stCondLst>
                                        </p:cTn>
                                        <p:tgtEl>
                                          <p:spTgt spid="144"/>
                                        </p:tgtEl>
                                      </p:cBhvr>
                                      <p:to x="100000" y="90000"/>
                                    </p:animScale>
                                    <p:animScale>
                                      <p:cBhvr>
                                        <p:cTn id="54" dur="166" decel="50000">
                                          <p:stCondLst>
                                            <p:cond delay="1668"/>
                                          </p:stCondLst>
                                        </p:cTn>
                                        <p:tgtEl>
                                          <p:spTgt spid="144"/>
                                        </p:tgtEl>
                                      </p:cBhvr>
                                      <p:to x="100000" y="100000"/>
                                    </p:animScale>
                                    <p:animScale>
                                      <p:cBhvr>
                                        <p:cTn id="55" dur="26">
                                          <p:stCondLst>
                                            <p:cond delay="1808"/>
                                          </p:stCondLst>
                                        </p:cTn>
                                        <p:tgtEl>
                                          <p:spTgt spid="144"/>
                                        </p:tgtEl>
                                      </p:cBhvr>
                                      <p:to x="100000" y="95000"/>
                                    </p:animScale>
                                    <p:animScale>
                                      <p:cBhvr>
                                        <p:cTn id="56" dur="166" decel="50000">
                                          <p:stCondLst>
                                            <p:cond delay="1834"/>
                                          </p:stCondLst>
                                        </p:cTn>
                                        <p:tgtEl>
                                          <p:spTgt spid="144"/>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106"/>
                                        </p:tgtEl>
                                        <p:attrNameLst>
                                          <p:attrName>style.visibility</p:attrName>
                                        </p:attrNameLst>
                                      </p:cBhvr>
                                      <p:to>
                                        <p:strVal val="visible"/>
                                      </p:to>
                                    </p:set>
                                    <p:animEffect transition="in" filter="wipe(down)">
                                      <p:cBhvr>
                                        <p:cTn id="61" dur="580">
                                          <p:stCondLst>
                                            <p:cond delay="0"/>
                                          </p:stCondLst>
                                        </p:cTn>
                                        <p:tgtEl>
                                          <p:spTgt spid="106"/>
                                        </p:tgtEl>
                                      </p:cBhvr>
                                    </p:animEffect>
                                    <p:anim calcmode="lin" valueType="num">
                                      <p:cBhvr>
                                        <p:cTn id="62" dur="1822" tmFilter="0,0; 0.14,0.36; 0.43,0.73; 0.71,0.91; 1.0,1.0">
                                          <p:stCondLst>
                                            <p:cond delay="0"/>
                                          </p:stCondLst>
                                        </p:cTn>
                                        <p:tgtEl>
                                          <p:spTgt spid="106"/>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106"/>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106"/>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106"/>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106"/>
                                        </p:tgtEl>
                                        <p:attrNameLst>
                                          <p:attrName>ppt_y</p:attrName>
                                        </p:attrNameLst>
                                      </p:cBhvr>
                                      <p:tavLst>
                                        <p:tav tm="0" fmla="#ppt_y-sin(pi*$)/81">
                                          <p:val>
                                            <p:fltVal val="0"/>
                                          </p:val>
                                        </p:tav>
                                        <p:tav tm="100000">
                                          <p:val>
                                            <p:fltVal val="1"/>
                                          </p:val>
                                        </p:tav>
                                      </p:tavLst>
                                    </p:anim>
                                    <p:animScale>
                                      <p:cBhvr>
                                        <p:cTn id="67" dur="26">
                                          <p:stCondLst>
                                            <p:cond delay="650"/>
                                          </p:stCondLst>
                                        </p:cTn>
                                        <p:tgtEl>
                                          <p:spTgt spid="106"/>
                                        </p:tgtEl>
                                      </p:cBhvr>
                                      <p:to x="100000" y="60000"/>
                                    </p:animScale>
                                    <p:animScale>
                                      <p:cBhvr>
                                        <p:cTn id="68" dur="166" decel="50000">
                                          <p:stCondLst>
                                            <p:cond delay="676"/>
                                          </p:stCondLst>
                                        </p:cTn>
                                        <p:tgtEl>
                                          <p:spTgt spid="106"/>
                                        </p:tgtEl>
                                      </p:cBhvr>
                                      <p:to x="100000" y="100000"/>
                                    </p:animScale>
                                    <p:animScale>
                                      <p:cBhvr>
                                        <p:cTn id="69" dur="26">
                                          <p:stCondLst>
                                            <p:cond delay="1312"/>
                                          </p:stCondLst>
                                        </p:cTn>
                                        <p:tgtEl>
                                          <p:spTgt spid="106"/>
                                        </p:tgtEl>
                                      </p:cBhvr>
                                      <p:to x="100000" y="80000"/>
                                    </p:animScale>
                                    <p:animScale>
                                      <p:cBhvr>
                                        <p:cTn id="70" dur="166" decel="50000">
                                          <p:stCondLst>
                                            <p:cond delay="1338"/>
                                          </p:stCondLst>
                                        </p:cTn>
                                        <p:tgtEl>
                                          <p:spTgt spid="106"/>
                                        </p:tgtEl>
                                      </p:cBhvr>
                                      <p:to x="100000" y="100000"/>
                                    </p:animScale>
                                    <p:animScale>
                                      <p:cBhvr>
                                        <p:cTn id="71" dur="26">
                                          <p:stCondLst>
                                            <p:cond delay="1642"/>
                                          </p:stCondLst>
                                        </p:cTn>
                                        <p:tgtEl>
                                          <p:spTgt spid="106"/>
                                        </p:tgtEl>
                                      </p:cBhvr>
                                      <p:to x="100000" y="90000"/>
                                    </p:animScale>
                                    <p:animScale>
                                      <p:cBhvr>
                                        <p:cTn id="72" dur="166" decel="50000">
                                          <p:stCondLst>
                                            <p:cond delay="1668"/>
                                          </p:stCondLst>
                                        </p:cTn>
                                        <p:tgtEl>
                                          <p:spTgt spid="106"/>
                                        </p:tgtEl>
                                      </p:cBhvr>
                                      <p:to x="100000" y="100000"/>
                                    </p:animScale>
                                    <p:animScale>
                                      <p:cBhvr>
                                        <p:cTn id="73" dur="26">
                                          <p:stCondLst>
                                            <p:cond delay="1808"/>
                                          </p:stCondLst>
                                        </p:cTn>
                                        <p:tgtEl>
                                          <p:spTgt spid="106"/>
                                        </p:tgtEl>
                                      </p:cBhvr>
                                      <p:to x="100000" y="95000"/>
                                    </p:animScale>
                                    <p:animScale>
                                      <p:cBhvr>
                                        <p:cTn id="74" dur="166" decel="50000">
                                          <p:stCondLst>
                                            <p:cond delay="1834"/>
                                          </p:stCondLst>
                                        </p:cTn>
                                        <p:tgtEl>
                                          <p:spTgt spid="106"/>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145"/>
                                        </p:tgtEl>
                                        <p:attrNameLst>
                                          <p:attrName>style.visibility</p:attrName>
                                        </p:attrNameLst>
                                      </p:cBhvr>
                                      <p:to>
                                        <p:strVal val="visible"/>
                                      </p:to>
                                    </p:set>
                                    <p:animEffect transition="in" filter="wipe(down)">
                                      <p:cBhvr>
                                        <p:cTn id="79" dur="580">
                                          <p:stCondLst>
                                            <p:cond delay="0"/>
                                          </p:stCondLst>
                                        </p:cTn>
                                        <p:tgtEl>
                                          <p:spTgt spid="145"/>
                                        </p:tgtEl>
                                      </p:cBhvr>
                                    </p:animEffect>
                                    <p:anim calcmode="lin" valueType="num">
                                      <p:cBhvr>
                                        <p:cTn id="80" dur="1822" tmFilter="0,0; 0.14,0.36; 0.43,0.73; 0.71,0.91; 1.0,1.0">
                                          <p:stCondLst>
                                            <p:cond delay="0"/>
                                          </p:stCondLst>
                                        </p:cTn>
                                        <p:tgtEl>
                                          <p:spTgt spid="145"/>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145"/>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145"/>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145"/>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145"/>
                                        </p:tgtEl>
                                        <p:attrNameLst>
                                          <p:attrName>ppt_y</p:attrName>
                                        </p:attrNameLst>
                                      </p:cBhvr>
                                      <p:tavLst>
                                        <p:tav tm="0" fmla="#ppt_y-sin(pi*$)/81">
                                          <p:val>
                                            <p:fltVal val="0"/>
                                          </p:val>
                                        </p:tav>
                                        <p:tav tm="100000">
                                          <p:val>
                                            <p:fltVal val="1"/>
                                          </p:val>
                                        </p:tav>
                                      </p:tavLst>
                                    </p:anim>
                                    <p:animScale>
                                      <p:cBhvr>
                                        <p:cTn id="85" dur="26">
                                          <p:stCondLst>
                                            <p:cond delay="650"/>
                                          </p:stCondLst>
                                        </p:cTn>
                                        <p:tgtEl>
                                          <p:spTgt spid="145"/>
                                        </p:tgtEl>
                                      </p:cBhvr>
                                      <p:to x="100000" y="60000"/>
                                    </p:animScale>
                                    <p:animScale>
                                      <p:cBhvr>
                                        <p:cTn id="86" dur="166" decel="50000">
                                          <p:stCondLst>
                                            <p:cond delay="676"/>
                                          </p:stCondLst>
                                        </p:cTn>
                                        <p:tgtEl>
                                          <p:spTgt spid="145"/>
                                        </p:tgtEl>
                                      </p:cBhvr>
                                      <p:to x="100000" y="100000"/>
                                    </p:animScale>
                                    <p:animScale>
                                      <p:cBhvr>
                                        <p:cTn id="87" dur="26">
                                          <p:stCondLst>
                                            <p:cond delay="1312"/>
                                          </p:stCondLst>
                                        </p:cTn>
                                        <p:tgtEl>
                                          <p:spTgt spid="145"/>
                                        </p:tgtEl>
                                      </p:cBhvr>
                                      <p:to x="100000" y="80000"/>
                                    </p:animScale>
                                    <p:animScale>
                                      <p:cBhvr>
                                        <p:cTn id="88" dur="166" decel="50000">
                                          <p:stCondLst>
                                            <p:cond delay="1338"/>
                                          </p:stCondLst>
                                        </p:cTn>
                                        <p:tgtEl>
                                          <p:spTgt spid="145"/>
                                        </p:tgtEl>
                                      </p:cBhvr>
                                      <p:to x="100000" y="100000"/>
                                    </p:animScale>
                                    <p:animScale>
                                      <p:cBhvr>
                                        <p:cTn id="89" dur="26">
                                          <p:stCondLst>
                                            <p:cond delay="1642"/>
                                          </p:stCondLst>
                                        </p:cTn>
                                        <p:tgtEl>
                                          <p:spTgt spid="145"/>
                                        </p:tgtEl>
                                      </p:cBhvr>
                                      <p:to x="100000" y="90000"/>
                                    </p:animScale>
                                    <p:animScale>
                                      <p:cBhvr>
                                        <p:cTn id="90" dur="166" decel="50000">
                                          <p:stCondLst>
                                            <p:cond delay="1668"/>
                                          </p:stCondLst>
                                        </p:cTn>
                                        <p:tgtEl>
                                          <p:spTgt spid="145"/>
                                        </p:tgtEl>
                                      </p:cBhvr>
                                      <p:to x="100000" y="100000"/>
                                    </p:animScale>
                                    <p:animScale>
                                      <p:cBhvr>
                                        <p:cTn id="91" dur="26">
                                          <p:stCondLst>
                                            <p:cond delay="1808"/>
                                          </p:stCondLst>
                                        </p:cTn>
                                        <p:tgtEl>
                                          <p:spTgt spid="145"/>
                                        </p:tgtEl>
                                      </p:cBhvr>
                                      <p:to x="100000" y="95000"/>
                                    </p:animScale>
                                    <p:animScale>
                                      <p:cBhvr>
                                        <p:cTn id="92" dur="166" decel="50000">
                                          <p:stCondLst>
                                            <p:cond delay="1834"/>
                                          </p:stCondLst>
                                        </p:cTn>
                                        <p:tgtEl>
                                          <p:spTgt spid="145"/>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95"/>
                                        </p:tgtEl>
                                        <p:attrNameLst>
                                          <p:attrName>style.visibility</p:attrName>
                                        </p:attrNameLst>
                                      </p:cBhvr>
                                      <p:to>
                                        <p:strVal val="visible"/>
                                      </p:to>
                                    </p:set>
                                    <p:animEffect transition="in" filter="fade">
                                      <p:cBhvr>
                                        <p:cTn id="97" dur="500"/>
                                        <p:tgtEl>
                                          <p:spTgt spid="9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00"/>
                                        </p:tgtEl>
                                        <p:attrNameLst>
                                          <p:attrName>style.visibility</p:attrName>
                                        </p:attrNameLst>
                                      </p:cBhvr>
                                      <p:to>
                                        <p:strVal val="visible"/>
                                      </p:to>
                                    </p:set>
                                    <p:animEffect transition="in" filter="fade">
                                      <p:cBhvr>
                                        <p:cTn id="102" dur="500"/>
                                        <p:tgtEl>
                                          <p:spTgt spid="100"/>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5"/>
                                        </p:tgtEl>
                                        <p:attrNameLst>
                                          <p:attrName>style.visibility</p:attrName>
                                        </p:attrNameLst>
                                      </p:cBhvr>
                                      <p:to>
                                        <p:strVal val="visible"/>
                                      </p:to>
                                    </p:set>
                                    <p:animEffect transition="in" filter="fade">
                                      <p:cBhvr>
                                        <p:cTn id="107" dur="500"/>
                                        <p:tgtEl>
                                          <p:spTgt spid="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500"/>
                                        <p:tgtEl>
                                          <p:spTgt spid="6"/>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149"/>
                                        </p:tgtEl>
                                        <p:attrNameLst>
                                          <p:attrName>style.visibility</p:attrName>
                                        </p:attrNameLst>
                                      </p:cBhvr>
                                      <p:to>
                                        <p:strVal val="visible"/>
                                      </p:to>
                                    </p:set>
                                    <p:animEffect transition="in" filter="fade">
                                      <p:cBhvr>
                                        <p:cTn id="117" dur="500"/>
                                        <p:tgtEl>
                                          <p:spTgt spid="149"/>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153"/>
                                        </p:tgtEl>
                                        <p:attrNameLst>
                                          <p:attrName>style.visibility</p:attrName>
                                        </p:attrNameLst>
                                      </p:cBhvr>
                                      <p:to>
                                        <p:strVal val="visible"/>
                                      </p:to>
                                    </p:set>
                                    <p:animEffect transition="in" filter="fade">
                                      <p:cBhvr>
                                        <p:cTn id="122" dur="500"/>
                                        <p:tgtEl>
                                          <p:spTgt spid="153"/>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35"/>
                                        </p:tgtEl>
                                        <p:attrNameLst>
                                          <p:attrName>style.visibility</p:attrName>
                                        </p:attrNameLst>
                                      </p:cBhvr>
                                      <p:to>
                                        <p:strVal val="visible"/>
                                      </p:to>
                                    </p:set>
                                    <p:animEffect transition="in" filter="fade">
                                      <p:cBhvr>
                                        <p:cTn id="127" dur="500"/>
                                        <p:tgtEl>
                                          <p:spTgt spid="135"/>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136"/>
                                        </p:tgtEl>
                                        <p:attrNameLst>
                                          <p:attrName>style.visibility</p:attrName>
                                        </p:attrNameLst>
                                      </p:cBhvr>
                                      <p:to>
                                        <p:strVal val="visible"/>
                                      </p:to>
                                    </p:set>
                                    <p:animEffect transition="in" filter="fade">
                                      <p:cBhvr>
                                        <p:cTn id="132" dur="500"/>
                                        <p:tgtEl>
                                          <p:spTgt spid="136"/>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7"/>
                                        </p:tgtEl>
                                        <p:attrNameLst>
                                          <p:attrName>style.visibility</p:attrName>
                                        </p:attrNameLst>
                                      </p:cBhvr>
                                      <p:to>
                                        <p:strVal val="visible"/>
                                      </p:to>
                                    </p:set>
                                    <p:animEffect transition="in" filter="fade">
                                      <p:cBhvr>
                                        <p:cTn id="137" dur="500"/>
                                        <p:tgtEl>
                                          <p:spTgt spid="7"/>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10"/>
                                        </p:tgtEl>
                                        <p:attrNameLst>
                                          <p:attrName>style.visibility</p:attrName>
                                        </p:attrNameLst>
                                      </p:cBhvr>
                                      <p:to>
                                        <p:strVal val="visible"/>
                                      </p:to>
                                    </p:set>
                                    <p:animEffect transition="in" filter="fade">
                                      <p:cBhvr>
                                        <p:cTn id="1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5" grpId="0"/>
      <p:bldP spid="100" grpId="0"/>
      <p:bldP spid="106" grpId="0" animBg="1"/>
      <p:bldP spid="135" grpId="0"/>
      <p:bldP spid="136" grpId="0"/>
      <p:bldP spid="144" grpId="0" animBg="1"/>
      <p:bldP spid="145" grpId="0" animBg="1"/>
      <p:bldP spid="149" grpId="0"/>
      <p:bldP spid="153" grpId="0"/>
      <p:bldP spid="3" grpId="0" animBg="1"/>
      <p:bldP spid="5" grpId="0"/>
      <p:bldP spid="6" grpId="0"/>
      <p:bldP spid="7"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3EC2C4D-3950-09FD-BBD9-656FB336F062}"/>
              </a:ext>
            </a:extLst>
          </p:cNvPr>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BC88D9AD-AABF-B845-2979-BBD0D36745CB}"/>
              </a:ext>
            </a:extLst>
          </p:cNvPr>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265B497-31FD-4A69-E0FA-9F7EFDE0FF5B}"/>
              </a:ext>
            </a:extLst>
          </p:cNvPr>
          <p:cNvSpPr txBox="1"/>
          <p:nvPr/>
        </p:nvSpPr>
        <p:spPr>
          <a:xfrm>
            <a:off x="4086225" y="261257"/>
            <a:ext cx="3647552"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Problem </a:t>
            </a:r>
          </a:p>
        </p:txBody>
      </p:sp>
      <p:cxnSp>
        <p:nvCxnSpPr>
          <p:cNvPr id="6" name="Straight Connector 5">
            <a:extLst>
              <a:ext uri="{FF2B5EF4-FFF2-40B4-BE49-F238E27FC236}">
                <a16:creationId xmlns:a16="http://schemas.microsoft.com/office/drawing/2014/main" id="{5BE18620-14B8-19F1-377F-B0FC0FE83A65}"/>
              </a:ext>
            </a:extLst>
          </p:cNvPr>
          <p:cNvCxnSpPr/>
          <p:nvPr/>
        </p:nvCxnSpPr>
        <p:spPr>
          <a:xfrm>
            <a:off x="-128953" y="3830480"/>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E659FB4-2DB0-8522-6B94-3E6AB5EF908C}"/>
              </a:ext>
            </a:extLst>
          </p:cNvPr>
          <p:cNvCxnSpPr/>
          <p:nvPr/>
        </p:nvCxnSpPr>
        <p:spPr>
          <a:xfrm>
            <a:off x="8105775" y="383253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FE27280-9720-7E58-5738-168B34E88B6F}"/>
              </a:ext>
            </a:extLst>
          </p:cNvPr>
          <p:cNvSpPr txBox="1"/>
          <p:nvPr/>
        </p:nvSpPr>
        <p:spPr>
          <a:xfrm>
            <a:off x="4350937" y="3554994"/>
            <a:ext cx="28336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Solution</a:t>
            </a:r>
            <a:endParaRPr lang="en-US" b="1" dirty="0">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1496500E-325E-1369-60AE-97B03D357D34}"/>
              </a:ext>
            </a:extLst>
          </p:cNvPr>
          <p:cNvSpPr>
            <a:spLocks noChangeArrowheads="1"/>
          </p:cNvSpPr>
          <p:nvPr/>
        </p:nvSpPr>
        <p:spPr bwMode="auto">
          <a:xfrm>
            <a:off x="93816" y="968158"/>
            <a:ext cx="1099531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Operation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canal systems still rely on manual controls, leading to delays and inefficiencies.</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Water Wastage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Uncontrolled water flow often results in excessive water loss, impacting resource availability.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Inconsistent Monitoring: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or no real-time monitoring means issues like leaks or blockages are detected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late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Resource Inefficiency: </a:t>
            </a:r>
            <a:r>
              <a:rPr lang="en-US" altLang="en-US" dirty="0">
                <a:latin typeface="Times New Roman" panose="02020603050405020304" pitchFamily="18" charset="0"/>
                <a:cs typeface="Times New Roman" panose="02020603050405020304" pitchFamily="18" charset="0"/>
              </a:rPr>
              <a:t>ineffective management leads to uneven water distribution, affecting agricultural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productivity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7" name="Rectangle 8">
            <a:extLst>
              <a:ext uri="{FF2B5EF4-FFF2-40B4-BE49-F238E27FC236}">
                <a16:creationId xmlns:a16="http://schemas.microsoft.com/office/drawing/2014/main" id="{9410CCDF-8980-67D5-7C05-BAF0C8CDD7D5}"/>
              </a:ext>
            </a:extLst>
          </p:cNvPr>
          <p:cNvSpPr>
            <a:spLocks noChangeArrowheads="1"/>
          </p:cNvSpPr>
          <p:nvPr/>
        </p:nvSpPr>
        <p:spPr bwMode="auto">
          <a:xfrm>
            <a:off x="411981" y="3999725"/>
            <a:ext cx="1148191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Monitoring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sensors to collect data on water levels, flow rate, and potential issues, which can be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moniterd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remotely.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Smart Decision-Making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 data analytics and algorithms for adaptive control, </a:t>
            </a:r>
            <a:r>
              <a:rPr lang="en-US" altLang="en-US" dirty="0">
                <a:latin typeface="Times New Roman" panose="02020603050405020304" pitchFamily="18" charset="0"/>
                <a:cs typeface="Times New Roman" panose="02020603050405020304" pitchFamily="18" charset="0"/>
              </a:rPr>
              <a:t>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ptimizing water distribution based on current needs.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Control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 IoT-based actuators and sensors to regulate water flow automatically.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Remote Management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operators to control and monitor the system via mobile apps or web interfaces, reducing the  need for physical presence</a:t>
            </a:r>
            <a:r>
              <a:rPr kumimoji="0" lang="en-US" altLang="en-US"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26096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p:cNvSpPr txBox="1"/>
          <p:nvPr/>
        </p:nvSpPr>
        <p:spPr>
          <a:xfrm>
            <a:off x="227964" y="172795"/>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Times New Roman" panose="02020603050405020304" pitchFamily="18" charset="0"/>
                <a:cs typeface="Times New Roman" panose="02020603050405020304" pitchFamily="18" charset="0"/>
              </a:rPr>
              <a:t>Description Of The </a:t>
            </a:r>
          </a:p>
          <a:p>
            <a:pPr algn="ctr"/>
            <a:r>
              <a:rPr lang="en-US" sz="2800" b="1" dirty="0">
                <a:latin typeface="Times New Roman" panose="02020603050405020304" pitchFamily="18" charset="0"/>
                <a:cs typeface="Times New Roman" panose="02020603050405020304" pitchFamily="18" charset="0"/>
              </a:rPr>
              <a:t>Project</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04189" y="1064885"/>
            <a:ext cx="11458575" cy="2246769"/>
          </a:xfrm>
          <a:prstGeom prst="rect">
            <a:avLst/>
          </a:prstGeom>
          <a:noFill/>
        </p:spPr>
        <p:txBody>
          <a:bodyPr wrap="square" lIns="91440" tIns="45720" rIns="91440" bIns="45720" rtlCol="0" anchor="t">
            <a:spAutoFit/>
          </a:bodyPr>
          <a:lstStyle/>
          <a:p>
            <a:pPr algn="just"/>
            <a:r>
              <a:rPr lang="en-US" sz="2000" dirty="0">
                <a:latin typeface="Times New Roman" panose="02020603050405020304" pitchFamily="18" charset="0"/>
                <a:cs typeface="Times New Roman" panose="02020603050405020304" pitchFamily="18" charset="0"/>
              </a:rPr>
              <a:t>The IoT-based water canal distribution system automates water management using integrated sensors, controllers, and communication technologies. Sensors measure water levels and flow rates, while controllers process this data to operate actuators that regulate water flow. Data is transmitted wirelessly to a centralized dashboard, allowing real-time monitoring and control. The system supports remote management, enabling operators to oversee and adjust operations through a user-friendly interface. Cloud integration ensures data storage, advanced analysis, and predictive insights. Key features include automated flow control, instant alerts for issues, and reduced need for manual intervention, enhancing efficiency and resource management.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8842" y="4006464"/>
            <a:ext cx="2194311" cy="21943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4E405E-93B9-22B6-B74A-11BE8BC623A7}"/>
              </a:ext>
            </a:extLst>
          </p:cNvPr>
          <p:cNvSpPr txBox="1"/>
          <p:nvPr/>
        </p:nvSpPr>
        <p:spPr>
          <a:xfrm>
            <a:off x="4685511" y="150989"/>
            <a:ext cx="443161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pitchFamily="18" charset="0"/>
                <a:cs typeface="Times New Roman" pitchFamily="18" charset="0"/>
              </a:rPr>
              <a:t>Need of project</a:t>
            </a:r>
          </a:p>
        </p:txBody>
      </p:sp>
      <p:cxnSp>
        <p:nvCxnSpPr>
          <p:cNvPr id="4" name="Straight Connector 3">
            <a:extLst>
              <a:ext uri="{FF2B5EF4-FFF2-40B4-BE49-F238E27FC236}">
                <a16:creationId xmlns:a16="http://schemas.microsoft.com/office/drawing/2014/main" id="{7E6991CF-9697-6E87-4815-5E14D96FC040}"/>
              </a:ext>
            </a:extLst>
          </p:cNvPr>
          <p:cNvCxnSpPr/>
          <p:nvPr/>
        </p:nvCxnSpPr>
        <p:spPr>
          <a:xfrm>
            <a:off x="0" y="376761"/>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3714BA6-E14D-5E8E-467F-35351F49D543}"/>
              </a:ext>
            </a:extLst>
          </p:cNvPr>
          <p:cNvCxnSpPr/>
          <p:nvPr/>
        </p:nvCxnSpPr>
        <p:spPr>
          <a:xfrm flipV="1">
            <a:off x="7844817" y="282816"/>
            <a:ext cx="4232361" cy="83506"/>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219C97F-328F-AA79-17EC-4BD7F679D0AB}"/>
              </a:ext>
            </a:extLst>
          </p:cNvPr>
          <p:cNvSpPr txBox="1"/>
          <p:nvPr/>
        </p:nvSpPr>
        <p:spPr>
          <a:xfrm>
            <a:off x="562973" y="909419"/>
            <a:ext cx="10234581"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dirty="0">
                <a:latin typeface="Times New Roman" pitchFamily="18" charset="0"/>
                <a:cs typeface="Times New Roman" panose="02020603050405020304" pitchFamily="18" charset="0"/>
              </a:rPr>
              <a:t>Need</a:t>
            </a:r>
            <a:r>
              <a:rPr lang="en-US" b="1" dirty="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Water Management Issues.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Manual Monitoring.</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Resource Wastage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i="1" dirty="0">
                <a:latin typeface="Times New Roman" panose="02020603050405020304" pitchFamily="18" charset="0"/>
                <a:cs typeface="Times New Roman" panose="02020603050405020304" pitchFamily="18" charset="0"/>
              </a:rPr>
              <a:t>Benefits</a:t>
            </a:r>
            <a:r>
              <a:rPr lang="en-US" b="1" dirty="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endParaRPr>
          </a:p>
          <a:p>
            <a:pPr marL="342900" indent="-342900" algn="l">
              <a:buFont typeface="Arial" pitchFamily="34" charset="0"/>
              <a:buChar char="•"/>
            </a:pPr>
            <a:r>
              <a:rPr lang="en-US" sz="2000" dirty="0">
                <a:latin typeface="Times New Roman" pitchFamily="18" charset="0"/>
                <a:cs typeface="Times New Roman" pitchFamily="18" charset="0"/>
              </a:rPr>
              <a:t>Improved Efficiency.</a:t>
            </a:r>
          </a:p>
          <a:p>
            <a:pPr marL="342900" indent="-342900" algn="l">
              <a:buFont typeface="Arial" pitchFamily="34" charset="0"/>
              <a:buChar char="•"/>
            </a:pPr>
            <a:endParaRPr lang="en-US" sz="2000" dirty="0">
              <a:latin typeface="Times New Roman" pitchFamily="18" charset="0"/>
              <a:cs typeface="Times New Roman" pitchFamily="18" charset="0"/>
            </a:endParaRPr>
          </a:p>
          <a:p>
            <a:pPr marL="342900" indent="-342900" algn="l">
              <a:buFont typeface="Arial" pitchFamily="34" charset="0"/>
              <a:buChar char="•"/>
            </a:pPr>
            <a:r>
              <a:rPr lang="en-US" sz="2000" dirty="0">
                <a:latin typeface="Times New Roman" pitchFamily="18" charset="0"/>
                <a:cs typeface="Times New Roman" pitchFamily="18" charset="0"/>
              </a:rPr>
              <a:t>Real time Monitoring</a:t>
            </a:r>
          </a:p>
          <a:p>
            <a:pPr marL="342900" indent="-342900" algn="l">
              <a:buFont typeface="Arial" pitchFamily="34" charset="0"/>
              <a:buChar char="•"/>
            </a:pPr>
            <a:endParaRPr lang="en-US" dirty="0">
              <a:latin typeface="Times New Roman" pitchFamily="18" charset="0"/>
              <a:cs typeface="Times New Roman" pitchFamily="18" charset="0"/>
            </a:endParaRPr>
          </a:p>
          <a:p>
            <a:pPr marL="342900" indent="-342900" algn="l">
              <a:buFont typeface="Arial" pitchFamily="34" charset="0"/>
              <a:buChar char="•"/>
            </a:pPr>
            <a:r>
              <a:rPr lang="en-US" sz="2000" dirty="0">
                <a:latin typeface="Times New Roman" pitchFamily="18" charset="0"/>
                <a:cs typeface="Times New Roman" pitchFamily="18" charset="0"/>
              </a:rPr>
              <a:t>Remote Access</a:t>
            </a:r>
          </a:p>
          <a:p>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2315391447"/>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p:cNvSpPr>
            <a:spLocks noGrp="1"/>
          </p:cNvSpPr>
          <p:nvPr>
            <p:ph type="title"/>
          </p:nvPr>
        </p:nvSpPr>
        <p:spPr/>
        <p:txBody>
          <a:bodyPr/>
          <a:lstStyle/>
          <a:p>
            <a:r>
              <a:rPr lang="en-US" dirty="0"/>
              <a:t>Project analysis slide 7</a:t>
            </a:r>
          </a:p>
        </p:txBody>
      </p:sp>
      <p:sp>
        <p:nvSpPr>
          <p:cNvPr id="6" name="Slide Number Placeholder 5"/>
          <p:cNvSpPr>
            <a:spLocks noGrp="1"/>
          </p:cNvSpPr>
          <p:nvPr>
            <p:ph type="sldNum" sz="quarter" idx="12"/>
          </p:nvPr>
        </p:nvSpPr>
        <p:spPr/>
        <p:txBody>
          <a:bodyPr/>
          <a:lstStyle/>
          <a:p>
            <a:fld id="{06FEDF93-2BFD-41CA-ABC7-B039102F3792}" type="slidenum">
              <a:rPr lang="en-US" smtClean="0"/>
              <a:t>7</a:t>
            </a:fld>
            <a:endParaRPr lang="en-US" dirty="0"/>
          </a:p>
        </p:txBody>
      </p:sp>
      <p:cxnSp>
        <p:nvCxnSpPr>
          <p:cNvPr id="8" name="Straight Connector 7"/>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p:cNvSpPr txBox="1"/>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Times New Roman" panose="02020603050405020304" pitchFamily="18" charset="0"/>
                <a:cs typeface="Times New Roman" panose="02020603050405020304" pitchFamily="18" charset="0"/>
              </a:rPr>
              <a:t>System Architecture</a:t>
            </a:r>
          </a:p>
        </p:txBody>
      </p:sp>
      <p:cxnSp>
        <p:nvCxnSpPr>
          <p:cNvPr id="14" name="Straight Connector 13"/>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26412C3-7413-89AF-F6C5-6E13004C16FE}"/>
              </a:ext>
            </a:extLst>
          </p:cNvPr>
          <p:cNvPicPr>
            <a:picLocks noChangeAspect="1"/>
          </p:cNvPicPr>
          <p:nvPr/>
        </p:nvPicPr>
        <p:blipFill>
          <a:blip r:embed="rId3"/>
          <a:srcRect/>
          <a:stretch>
            <a:fillRect/>
          </a:stretch>
        </p:blipFill>
        <p:spPr bwMode="auto">
          <a:xfrm>
            <a:off x="3581401" y="910696"/>
            <a:ext cx="4890135" cy="547243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4" name="Title 3" hidden="1"/>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p:cNvSpPr txBox="1"/>
          <p:nvPr/>
        </p:nvSpPr>
        <p:spPr>
          <a:xfrm>
            <a:off x="228600" y="190500"/>
            <a:ext cx="11734800" cy="1551194"/>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Times New Roman" panose="02020603050405020304" pitchFamily="18" charset="0"/>
                <a:cs typeface="Times New Roman" panose="02020603050405020304" pitchFamily="18" charset="0"/>
              </a:rPr>
              <a:t>Future scope </a:t>
            </a:r>
          </a:p>
          <a:p>
            <a:pPr algn="ctr"/>
            <a:endParaRPr lang="en-US" sz="2800" b="1" dirty="0">
              <a:latin typeface="Times New Roman" panose="02020603050405020304" pitchFamily="18" charset="0"/>
              <a:cs typeface="Times New Roman" panose="02020603050405020304" pitchFamily="18" charset="0"/>
            </a:endParaRPr>
          </a:p>
          <a:p>
            <a:pPr algn="ctr"/>
            <a:br>
              <a:rPr lang="en-US" sz="2800" dirty="0">
                <a:solidFill>
                  <a:schemeClr val="tx1">
                    <a:lumMod val="75000"/>
                    <a:lumOff val="25000"/>
                  </a:schemeClr>
                </a:solidFill>
                <a:latin typeface="Times New Roman" pitchFamily="18" charset="0"/>
                <a:cs typeface="Times New Roman" pitchFamily="18" charset="0"/>
              </a:rPr>
            </a:br>
            <a:endParaRPr lang="en-US" sz="2800" dirty="0">
              <a:solidFill>
                <a:schemeClr val="tx1">
                  <a:lumMod val="75000"/>
                  <a:lumOff val="25000"/>
                </a:schemeClr>
              </a:solidFill>
              <a:latin typeface="Times New Roman" pitchFamily="18" charset="0"/>
              <a:cs typeface="Times New Roman" pitchFamily="18" charset="0"/>
            </a:endParaRPr>
          </a:p>
        </p:txBody>
      </p:sp>
      <p:cxnSp>
        <p:nvCxnSpPr>
          <p:cNvPr id="14" name="Straight Connector 13"/>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5248275" y="2857500"/>
            <a:ext cx="1695450" cy="16954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itchFamily="18" charset="0"/>
                <a:cs typeface="Times New Roman" panose="02020603050405020304" pitchFamily="18" charset="0"/>
              </a:rPr>
              <a:t>Future</a:t>
            </a:r>
          </a:p>
        </p:txBody>
      </p:sp>
      <p:sp>
        <p:nvSpPr>
          <p:cNvPr id="16" name="Rectangle: Rounded Corners 15"/>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latin typeface="Times New Roman"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User Feedback Mechanism</a:t>
            </a:r>
          </a:p>
        </p:txBody>
      </p:sp>
      <p:sp>
        <p:nvSpPr>
          <p:cNvPr id="15" name="Oval 14"/>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19" name="Rectangle: Rounded Corners 18"/>
          <p:cNvSpPr/>
          <p:nvPr/>
        </p:nvSpPr>
        <p:spPr>
          <a:xfrm>
            <a:off x="7960163" y="3323003"/>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Times New Roman" pitchFamily="18" charset="0"/>
                <a:cs typeface="Times New Roman" pitchFamily="18" charset="0"/>
              </a:rPr>
              <a:t> Enhanced Security Features</a:t>
            </a:r>
            <a:endParaRPr lang="en-US" sz="1600" dirty="0">
              <a:latin typeface="Times New Roman" panose="02020603050405020304" pitchFamily="18" charset="0"/>
              <a:cs typeface="Times New Roman" panose="02020603050405020304" pitchFamily="18" charset="0"/>
            </a:endParaRPr>
          </a:p>
        </p:txBody>
      </p:sp>
      <p:sp>
        <p:nvSpPr>
          <p:cNvPr id="20" name="Oval 19"/>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21" name="Rectangle: Rounded Corners 20"/>
          <p:cNvSpPr/>
          <p:nvPr/>
        </p:nvSpPr>
        <p:spPr>
          <a:xfrm>
            <a:off x="7415212"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itchFamily="18" charset="0"/>
                <a:cs typeface="Times New Roman" panose="02020603050405020304" pitchFamily="18" charset="0"/>
              </a:rPr>
              <a:t>Integration with Other IoT Systems</a:t>
            </a:r>
          </a:p>
        </p:txBody>
      </p:sp>
      <p:sp>
        <p:nvSpPr>
          <p:cNvPr id="22" name="Oval 21"/>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25" name="Rectangle: Rounded Corners 24"/>
          <p:cNvSpPr/>
          <p:nvPr/>
        </p:nvSpPr>
        <p:spPr>
          <a:xfrm>
            <a:off x="1587500" y="1584203"/>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latin typeface="Times New Roman" pitchFamily="18" charset="0"/>
                <a:cs typeface="Times New Roman" panose="02020603050405020304" pitchFamily="18" charset="0"/>
              </a:rPr>
              <a:t>           Scalability</a:t>
            </a:r>
          </a:p>
        </p:txBody>
      </p:sp>
      <p:sp>
        <p:nvSpPr>
          <p:cNvPr id="26" name="Oval 25"/>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27" name="Rectangle: Rounded Corners 26"/>
          <p:cNvSpPr/>
          <p:nvPr/>
        </p:nvSpPr>
        <p:spPr>
          <a:xfrm>
            <a:off x="746564" y="3305053"/>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latin typeface="Times New Roman"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Advanced Data Analytics</a:t>
            </a:r>
          </a:p>
        </p:txBody>
      </p:sp>
      <p:sp>
        <p:nvSpPr>
          <p:cNvPr id="28" name="Oval 27"/>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29" name="Rectangle: Rounded Corners 28"/>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latin typeface="Times New Roman" pitchFamily="18" charset="0"/>
                <a:cs typeface="Times New Roman" panose="02020603050405020304" pitchFamily="18" charset="0"/>
              </a:rPr>
              <a:t>   </a:t>
            </a:r>
            <a:r>
              <a:rPr lang="en-US" sz="1600" dirty="0">
                <a:latin typeface="Times New Roman" pitchFamily="18" charset="0"/>
                <a:cs typeface="Times New Roman" pitchFamily="18" charset="0"/>
              </a:rPr>
              <a:t>Regulatory compliance</a:t>
            </a:r>
          </a:p>
        </p:txBody>
      </p:sp>
      <p:sp>
        <p:nvSpPr>
          <p:cNvPr id="30" name="Oval 29"/>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34" name="Freeform 1676" descr="Icon of check box. "/>
          <p:cNvSpPr>
            <a:spLocks noEditPoints="1"/>
          </p:cNvSpPr>
          <p:nvPr/>
        </p:nvSpPr>
        <p:spPr bwMode="auto">
          <a:xfrm>
            <a:off x="3967321" y="353234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lstStyle/>
          <a:p>
            <a:endParaRPr lang="en-US" dirty="0">
              <a:latin typeface="Times New Roman" pitchFamily="18" charset="0"/>
              <a:cs typeface="Times New Roman" pitchFamily="18" charset="0"/>
            </a:endParaRPr>
          </a:p>
        </p:txBody>
      </p:sp>
      <p:grpSp>
        <p:nvGrpSpPr>
          <p:cNvPr id="39" name="Group 38" descr="Icon of gears. "/>
          <p:cNvGrpSpPr/>
          <p:nvPr/>
        </p:nvGrpSpPr>
        <p:grpSpPr>
          <a:xfrm>
            <a:off x="7130581" y="1814378"/>
            <a:ext cx="343837" cy="343837"/>
            <a:chOff x="7613650" y="1387475"/>
            <a:chExt cx="284163" cy="284163"/>
          </a:xfrm>
          <a:solidFill>
            <a:schemeClr val="bg1"/>
          </a:solidFill>
        </p:grpSpPr>
        <p:sp>
          <p:nvSpPr>
            <p:cNvPr id="40" name="Freeform 4359"/>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Times New Roman" pitchFamily="18" charset="0"/>
                <a:cs typeface="Times New Roman" pitchFamily="18" charset="0"/>
              </a:endParaRPr>
            </a:p>
          </p:txBody>
        </p:sp>
        <p:sp>
          <p:nvSpPr>
            <p:cNvPr id="41" name="Freeform 4360"/>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latin typeface="Times New Roman" pitchFamily="18" charset="0"/>
                <a:cs typeface="Times New Roman" pitchFamily="18" charset="0"/>
              </a:endParaRPr>
            </a:p>
          </p:txBody>
        </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0463" y="1814378"/>
            <a:ext cx="343837" cy="343837"/>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22300" y="3434128"/>
            <a:ext cx="475727" cy="47572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86131" y="5312028"/>
            <a:ext cx="422432" cy="422432"/>
          </a:xfrm>
          <a:prstGeom prst="rect">
            <a:avLst/>
          </a:prstGeom>
        </p:spPr>
      </p:pic>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0463" y="5351325"/>
            <a:ext cx="343837" cy="343837"/>
          </a:xfrm>
          <a:prstGeom prst="rect">
            <a:avLst/>
          </a:prstGeom>
        </p:spPr>
      </p:pic>
      <p:pic>
        <p:nvPicPr>
          <p:cNvPr id="3" name="Picture 2" descr="A water channel with a cloud and icons&#10;&#10;Description automatically generated">
            <a:extLst>
              <a:ext uri="{FF2B5EF4-FFF2-40B4-BE49-F238E27FC236}">
                <a16:creationId xmlns:a16="http://schemas.microsoft.com/office/drawing/2014/main" id="{49E9314B-E07E-32E5-7321-892EE85DD33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61835" y="2771060"/>
            <a:ext cx="1868329" cy="1868329"/>
          </a:xfrm>
          <a:prstGeom prst="rect">
            <a:avLst/>
          </a:prstGeom>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par>
                          <p:cTn id="11" fill="hold">
                            <p:stCondLst>
                              <p:cond delay="500"/>
                            </p:stCondLst>
                            <p:childTnLst>
                              <p:par>
                                <p:cTn id="12" presetID="2" presetClass="entr" presetSubtype="9"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additive="base">
                                        <p:cTn id="14" dur="500" fill="hold"/>
                                        <p:tgtEl>
                                          <p:spTgt spid="25"/>
                                        </p:tgtEl>
                                        <p:attrNameLst>
                                          <p:attrName>ppt_x</p:attrName>
                                        </p:attrNameLst>
                                      </p:cBhvr>
                                      <p:tavLst>
                                        <p:tav tm="0">
                                          <p:val>
                                            <p:strVal val="0-#ppt_w/2"/>
                                          </p:val>
                                        </p:tav>
                                        <p:tav tm="100000">
                                          <p:val>
                                            <p:strVal val="#ppt_x"/>
                                          </p:val>
                                        </p:tav>
                                      </p:tavLst>
                                    </p:anim>
                                    <p:anim calcmode="lin" valueType="num">
                                      <p:cBhvr additive="base">
                                        <p:cTn id="15" dur="500" fill="hold"/>
                                        <p:tgtEl>
                                          <p:spTgt spid="25"/>
                                        </p:tgtEl>
                                        <p:attrNameLst>
                                          <p:attrName>ppt_y</p:attrName>
                                        </p:attrNameLst>
                                      </p:cBhvr>
                                      <p:tavLst>
                                        <p:tav tm="0">
                                          <p:val>
                                            <p:strVal val="0-#ppt_h/2"/>
                                          </p:val>
                                        </p:tav>
                                        <p:tav tm="100000">
                                          <p:val>
                                            <p:strVal val="#ppt_y"/>
                                          </p:val>
                                        </p:tav>
                                      </p:tavLst>
                                    </p:anim>
                                  </p:childTnLst>
                                </p:cTn>
                              </p:par>
                              <p:par>
                                <p:cTn id="16" presetID="2" presetClass="entr" presetSubtype="9"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0-#ppt_h/2"/>
                                          </p:val>
                                        </p:tav>
                                        <p:tav tm="100000">
                                          <p:val>
                                            <p:strVal val="#ppt_y"/>
                                          </p:val>
                                        </p:tav>
                                      </p:tavLst>
                                    </p:anim>
                                  </p:childTnLst>
                                </p:cTn>
                              </p:par>
                              <p:par>
                                <p:cTn id="20" presetID="2" presetClass="entr" presetSubtype="9"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fill="hold"/>
                                        <p:tgtEl>
                                          <p:spTgt spid="26"/>
                                        </p:tgtEl>
                                        <p:attrNameLst>
                                          <p:attrName>ppt_x</p:attrName>
                                        </p:attrNameLst>
                                      </p:cBhvr>
                                      <p:tavLst>
                                        <p:tav tm="0">
                                          <p:val>
                                            <p:strVal val="0-#ppt_w/2"/>
                                          </p:val>
                                        </p:tav>
                                        <p:tav tm="100000">
                                          <p:val>
                                            <p:strVal val="#ppt_x"/>
                                          </p:val>
                                        </p:tav>
                                      </p:tavLst>
                                    </p:anim>
                                    <p:anim calcmode="lin" valueType="num">
                                      <p:cBhvr additive="base">
                                        <p:cTn id="23" dur="500" fill="hold"/>
                                        <p:tgtEl>
                                          <p:spTgt spid="26"/>
                                        </p:tgtEl>
                                        <p:attrNameLst>
                                          <p:attrName>ppt_y</p:attrName>
                                        </p:attrNameLst>
                                      </p:cBhvr>
                                      <p:tavLst>
                                        <p:tav tm="0">
                                          <p:val>
                                            <p:strVal val="0-#ppt_h/2"/>
                                          </p:val>
                                        </p:tav>
                                        <p:tav tm="100000">
                                          <p:val>
                                            <p:strVal val="#ppt_y"/>
                                          </p:val>
                                        </p:tav>
                                      </p:tavLst>
                                    </p:anim>
                                  </p:childTnLst>
                                </p:cTn>
                              </p:par>
                            </p:childTnLst>
                          </p:cTn>
                        </p:par>
                        <p:par>
                          <p:cTn id="24" fill="hold">
                            <p:stCondLst>
                              <p:cond delay="1000"/>
                            </p:stCondLst>
                            <p:childTnLst>
                              <p:par>
                                <p:cTn id="25" presetID="2" presetClass="entr" presetSubtype="3"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additive="base">
                                        <p:cTn id="27" dur="500" fill="hold"/>
                                        <p:tgtEl>
                                          <p:spTgt spid="39"/>
                                        </p:tgtEl>
                                        <p:attrNameLst>
                                          <p:attrName>ppt_x</p:attrName>
                                        </p:attrNameLst>
                                      </p:cBhvr>
                                      <p:tavLst>
                                        <p:tav tm="0">
                                          <p:val>
                                            <p:strVal val="1+#ppt_w/2"/>
                                          </p:val>
                                        </p:tav>
                                        <p:tav tm="100000">
                                          <p:val>
                                            <p:strVal val="#ppt_x"/>
                                          </p:val>
                                        </p:tav>
                                      </p:tavLst>
                                    </p:anim>
                                    <p:anim calcmode="lin" valueType="num">
                                      <p:cBhvr additive="base">
                                        <p:cTn id="28" dur="500" fill="hold"/>
                                        <p:tgtEl>
                                          <p:spTgt spid="39"/>
                                        </p:tgtEl>
                                        <p:attrNameLst>
                                          <p:attrName>ppt_y</p:attrName>
                                        </p:attrNameLst>
                                      </p:cBhvr>
                                      <p:tavLst>
                                        <p:tav tm="0">
                                          <p:val>
                                            <p:strVal val="0-#ppt_h/2"/>
                                          </p:val>
                                        </p:tav>
                                        <p:tav tm="100000">
                                          <p:val>
                                            <p:strVal val="#ppt_y"/>
                                          </p:val>
                                        </p:tav>
                                      </p:tavLst>
                                    </p:anim>
                                  </p:childTnLst>
                                </p:cTn>
                              </p:par>
                              <p:par>
                                <p:cTn id="29" presetID="2" presetClass="entr" presetSubtype="3"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1+#ppt_w/2"/>
                                          </p:val>
                                        </p:tav>
                                        <p:tav tm="100000">
                                          <p:val>
                                            <p:strVal val="#ppt_x"/>
                                          </p:val>
                                        </p:tav>
                                      </p:tavLst>
                                    </p:anim>
                                    <p:anim calcmode="lin" valueType="num">
                                      <p:cBhvr additive="base">
                                        <p:cTn id="32" dur="500" fill="hold"/>
                                        <p:tgtEl>
                                          <p:spTgt spid="15"/>
                                        </p:tgtEl>
                                        <p:attrNameLst>
                                          <p:attrName>ppt_y</p:attrName>
                                        </p:attrNameLst>
                                      </p:cBhvr>
                                      <p:tavLst>
                                        <p:tav tm="0">
                                          <p:val>
                                            <p:strVal val="0-#ppt_h/2"/>
                                          </p:val>
                                        </p:tav>
                                        <p:tav tm="100000">
                                          <p:val>
                                            <p:strVal val="#ppt_y"/>
                                          </p:val>
                                        </p:tav>
                                      </p:tavLst>
                                    </p:anim>
                                  </p:childTnLst>
                                </p:cTn>
                              </p:par>
                              <p:par>
                                <p:cTn id="33" presetID="2" presetClass="entr" presetSubtype="3"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1+#ppt_w/2"/>
                                          </p:val>
                                        </p:tav>
                                        <p:tav tm="100000">
                                          <p:val>
                                            <p:strVal val="#ppt_x"/>
                                          </p:val>
                                        </p:tav>
                                      </p:tavLst>
                                    </p:anim>
                                    <p:anim calcmode="lin" valueType="num">
                                      <p:cBhvr additive="base">
                                        <p:cTn id="36" dur="500" fill="hold"/>
                                        <p:tgtEl>
                                          <p:spTgt spid="16"/>
                                        </p:tgtEl>
                                        <p:attrNameLst>
                                          <p:attrName>ppt_y</p:attrName>
                                        </p:attrNameLst>
                                      </p:cBhvr>
                                      <p:tavLst>
                                        <p:tav tm="0">
                                          <p:val>
                                            <p:strVal val="0-#ppt_h/2"/>
                                          </p:val>
                                        </p:tav>
                                        <p:tav tm="100000">
                                          <p:val>
                                            <p:strVal val="#ppt_y"/>
                                          </p:val>
                                        </p:tav>
                                      </p:tavLst>
                                    </p:anim>
                                  </p:childTnLst>
                                </p:cTn>
                              </p:par>
                            </p:childTnLst>
                          </p:cTn>
                        </p:par>
                        <p:par>
                          <p:cTn id="37" fill="hold">
                            <p:stCondLst>
                              <p:cond delay="1500"/>
                            </p:stCondLst>
                            <p:childTnLst>
                              <p:par>
                                <p:cTn id="38" presetID="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0-#ppt_w/2"/>
                                          </p:val>
                                        </p:tav>
                                        <p:tav tm="100000">
                                          <p:val>
                                            <p:strVal val="#ppt_x"/>
                                          </p:val>
                                        </p:tav>
                                      </p:tavLst>
                                    </p:anim>
                                    <p:anim calcmode="lin" valueType="num">
                                      <p:cBhvr additive="base">
                                        <p:cTn id="41" dur="500" fill="hold"/>
                                        <p:tgtEl>
                                          <p:spTgt spid="27"/>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additive="base">
                                        <p:cTn id="44" dur="500" fill="hold"/>
                                        <p:tgtEl>
                                          <p:spTgt spid="34"/>
                                        </p:tgtEl>
                                        <p:attrNameLst>
                                          <p:attrName>ppt_x</p:attrName>
                                        </p:attrNameLst>
                                      </p:cBhvr>
                                      <p:tavLst>
                                        <p:tav tm="0">
                                          <p:val>
                                            <p:strVal val="0-#ppt_w/2"/>
                                          </p:val>
                                        </p:tav>
                                        <p:tav tm="100000">
                                          <p:val>
                                            <p:strVal val="#ppt_x"/>
                                          </p:val>
                                        </p:tav>
                                      </p:tavLst>
                                    </p:anim>
                                    <p:anim calcmode="lin" valueType="num">
                                      <p:cBhvr additive="base">
                                        <p:cTn id="45" dur="500" fill="hold"/>
                                        <p:tgtEl>
                                          <p:spTgt spid="34"/>
                                        </p:tgtEl>
                                        <p:attrNameLst>
                                          <p:attrName>ppt_y</p:attrName>
                                        </p:attrNameLst>
                                      </p:cBhvr>
                                      <p:tavLst>
                                        <p:tav tm="0">
                                          <p:val>
                                            <p:strVal val="#ppt_y"/>
                                          </p:val>
                                        </p:tav>
                                        <p:tav tm="100000">
                                          <p:val>
                                            <p:strVal val="#ppt_y"/>
                                          </p:val>
                                        </p:tav>
                                      </p:tavLst>
                                    </p:anim>
                                  </p:childTnLst>
                                </p:cTn>
                              </p:par>
                              <p:par>
                                <p:cTn id="46" presetID="2" presetClass="entr" presetSubtype="8"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additive="base">
                                        <p:cTn id="48" dur="500" fill="hold"/>
                                        <p:tgtEl>
                                          <p:spTgt spid="28"/>
                                        </p:tgtEl>
                                        <p:attrNameLst>
                                          <p:attrName>ppt_x</p:attrName>
                                        </p:attrNameLst>
                                      </p:cBhvr>
                                      <p:tavLst>
                                        <p:tav tm="0">
                                          <p:val>
                                            <p:strVal val="0-#ppt_w/2"/>
                                          </p:val>
                                        </p:tav>
                                        <p:tav tm="100000">
                                          <p:val>
                                            <p:strVal val="#ppt_x"/>
                                          </p:val>
                                        </p:tav>
                                      </p:tavLst>
                                    </p:anim>
                                    <p:anim calcmode="lin" valueType="num">
                                      <p:cBhvr additive="base">
                                        <p:cTn id="49" dur="500" fill="hold"/>
                                        <p:tgtEl>
                                          <p:spTgt spid="28"/>
                                        </p:tgtEl>
                                        <p:attrNameLst>
                                          <p:attrName>ppt_y</p:attrName>
                                        </p:attrNameLst>
                                      </p:cBhvr>
                                      <p:tavLst>
                                        <p:tav tm="0">
                                          <p:val>
                                            <p:strVal val="#ppt_y"/>
                                          </p:val>
                                        </p:tav>
                                        <p:tav tm="100000">
                                          <p:val>
                                            <p:strVal val="#ppt_y"/>
                                          </p:val>
                                        </p:tav>
                                      </p:tavLst>
                                    </p:anim>
                                  </p:childTnLst>
                                </p:cTn>
                              </p:par>
                            </p:childTnLst>
                          </p:cTn>
                        </p:par>
                        <p:par>
                          <p:cTn id="50" fill="hold">
                            <p:stCondLst>
                              <p:cond delay="2000"/>
                            </p:stCondLst>
                            <p:childTnLst>
                              <p:par>
                                <p:cTn id="51" presetID="2" presetClass="entr" presetSubtype="2" fill="hold" nodeType="afterEffect">
                                  <p:stCondLst>
                                    <p:cond delay="0"/>
                                  </p:stCondLst>
                                  <p:childTnLst>
                                    <p:set>
                                      <p:cBhvr>
                                        <p:cTn id="52" dur="1" fill="hold">
                                          <p:stCondLst>
                                            <p:cond delay="0"/>
                                          </p:stCondLst>
                                        </p:cTn>
                                        <p:tgtEl>
                                          <p:spTgt spid="6"/>
                                        </p:tgtEl>
                                        <p:attrNameLst>
                                          <p:attrName>style.visibility</p:attrName>
                                        </p:attrNameLst>
                                      </p:cBhvr>
                                      <p:to>
                                        <p:strVal val="visible"/>
                                      </p:to>
                                    </p:set>
                                    <p:anim calcmode="lin" valueType="num">
                                      <p:cBhvr additive="base">
                                        <p:cTn id="53" dur="500" fill="hold"/>
                                        <p:tgtEl>
                                          <p:spTgt spid="6"/>
                                        </p:tgtEl>
                                        <p:attrNameLst>
                                          <p:attrName>ppt_x</p:attrName>
                                        </p:attrNameLst>
                                      </p:cBhvr>
                                      <p:tavLst>
                                        <p:tav tm="0">
                                          <p:val>
                                            <p:strVal val="1+#ppt_w/2"/>
                                          </p:val>
                                        </p:tav>
                                        <p:tav tm="100000">
                                          <p:val>
                                            <p:strVal val="#ppt_x"/>
                                          </p:val>
                                        </p:tav>
                                      </p:tavLst>
                                    </p:anim>
                                    <p:anim calcmode="lin" valueType="num">
                                      <p:cBhvr additive="base">
                                        <p:cTn id="54" dur="500" fill="hold"/>
                                        <p:tgtEl>
                                          <p:spTgt spid="6"/>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1+#ppt_w/2"/>
                                          </p:val>
                                        </p:tav>
                                        <p:tav tm="100000">
                                          <p:val>
                                            <p:strVal val="#ppt_x"/>
                                          </p:val>
                                        </p:tav>
                                      </p:tavLst>
                                    </p:anim>
                                    <p:anim calcmode="lin" valueType="num">
                                      <p:cBhvr additive="base">
                                        <p:cTn id="58" dur="500" fill="hold"/>
                                        <p:tgtEl>
                                          <p:spTgt spid="20"/>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00" fill="hold"/>
                                        <p:tgtEl>
                                          <p:spTgt spid="19"/>
                                        </p:tgtEl>
                                        <p:attrNameLst>
                                          <p:attrName>ppt_x</p:attrName>
                                        </p:attrNameLst>
                                      </p:cBhvr>
                                      <p:tavLst>
                                        <p:tav tm="0">
                                          <p:val>
                                            <p:strVal val="1+#ppt_w/2"/>
                                          </p:val>
                                        </p:tav>
                                        <p:tav tm="100000">
                                          <p:val>
                                            <p:strVal val="#ppt_x"/>
                                          </p:val>
                                        </p:tav>
                                      </p:tavLst>
                                    </p:anim>
                                    <p:anim calcmode="lin" valueType="num">
                                      <p:cBhvr additive="base">
                                        <p:cTn id="62" dur="500" fill="hold"/>
                                        <p:tgtEl>
                                          <p:spTgt spid="19"/>
                                        </p:tgtEl>
                                        <p:attrNameLst>
                                          <p:attrName>ppt_y</p:attrName>
                                        </p:attrNameLst>
                                      </p:cBhvr>
                                      <p:tavLst>
                                        <p:tav tm="0">
                                          <p:val>
                                            <p:strVal val="#ppt_y"/>
                                          </p:val>
                                        </p:tav>
                                        <p:tav tm="100000">
                                          <p:val>
                                            <p:strVal val="#ppt_y"/>
                                          </p:val>
                                        </p:tav>
                                      </p:tavLst>
                                    </p:anim>
                                  </p:childTnLst>
                                </p:cTn>
                              </p:par>
                            </p:childTnLst>
                          </p:cTn>
                        </p:par>
                        <p:par>
                          <p:cTn id="63" fill="hold">
                            <p:stCondLst>
                              <p:cond delay="2500"/>
                            </p:stCondLst>
                            <p:childTnLst>
                              <p:par>
                                <p:cTn id="64" presetID="2" presetClass="entr" presetSubtype="12" fill="hold" nodeType="after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0-#ppt_w/2"/>
                                          </p:val>
                                        </p:tav>
                                        <p:tav tm="100000">
                                          <p:val>
                                            <p:strVal val="#ppt_x"/>
                                          </p:val>
                                        </p:tav>
                                      </p:tavLst>
                                    </p:anim>
                                    <p:anim calcmode="lin" valueType="num">
                                      <p:cBhvr additive="base">
                                        <p:cTn id="67" dur="500" fill="hold"/>
                                        <p:tgtEl>
                                          <p:spTgt spid="31"/>
                                        </p:tgtEl>
                                        <p:attrNameLst>
                                          <p:attrName>ppt_y</p:attrName>
                                        </p:attrNameLst>
                                      </p:cBhvr>
                                      <p:tavLst>
                                        <p:tav tm="0">
                                          <p:val>
                                            <p:strVal val="1+#ppt_h/2"/>
                                          </p:val>
                                        </p:tav>
                                        <p:tav tm="100000">
                                          <p:val>
                                            <p:strVal val="#ppt_y"/>
                                          </p:val>
                                        </p:tav>
                                      </p:tavLst>
                                    </p:anim>
                                  </p:childTnLst>
                                </p:cTn>
                              </p:par>
                              <p:par>
                                <p:cTn id="68" presetID="2" presetClass="entr" presetSubtype="12"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fill="hold"/>
                                        <p:tgtEl>
                                          <p:spTgt spid="30"/>
                                        </p:tgtEl>
                                        <p:attrNameLst>
                                          <p:attrName>ppt_x</p:attrName>
                                        </p:attrNameLst>
                                      </p:cBhvr>
                                      <p:tavLst>
                                        <p:tav tm="0">
                                          <p:val>
                                            <p:strVal val="0-#ppt_w/2"/>
                                          </p:val>
                                        </p:tav>
                                        <p:tav tm="100000">
                                          <p:val>
                                            <p:strVal val="#ppt_x"/>
                                          </p:val>
                                        </p:tav>
                                      </p:tavLst>
                                    </p:anim>
                                    <p:anim calcmode="lin" valueType="num">
                                      <p:cBhvr additive="base">
                                        <p:cTn id="71" dur="500" fill="hold"/>
                                        <p:tgtEl>
                                          <p:spTgt spid="30"/>
                                        </p:tgtEl>
                                        <p:attrNameLst>
                                          <p:attrName>ppt_y</p:attrName>
                                        </p:attrNameLst>
                                      </p:cBhvr>
                                      <p:tavLst>
                                        <p:tav tm="0">
                                          <p:val>
                                            <p:strVal val="1+#ppt_h/2"/>
                                          </p:val>
                                        </p:tav>
                                        <p:tav tm="100000">
                                          <p:val>
                                            <p:strVal val="#ppt_y"/>
                                          </p:val>
                                        </p:tav>
                                      </p:tavLst>
                                    </p:anim>
                                  </p:childTnLst>
                                </p:cTn>
                              </p:par>
                              <p:par>
                                <p:cTn id="72" presetID="2" presetClass="entr" presetSubtype="12"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 calcmode="lin" valueType="num">
                                      <p:cBhvr additive="base">
                                        <p:cTn id="74" dur="500" fill="hold"/>
                                        <p:tgtEl>
                                          <p:spTgt spid="29"/>
                                        </p:tgtEl>
                                        <p:attrNameLst>
                                          <p:attrName>ppt_x</p:attrName>
                                        </p:attrNameLst>
                                      </p:cBhvr>
                                      <p:tavLst>
                                        <p:tav tm="0">
                                          <p:val>
                                            <p:strVal val="0-#ppt_w/2"/>
                                          </p:val>
                                        </p:tav>
                                        <p:tav tm="100000">
                                          <p:val>
                                            <p:strVal val="#ppt_x"/>
                                          </p:val>
                                        </p:tav>
                                      </p:tavLst>
                                    </p:anim>
                                    <p:anim calcmode="lin" valueType="num">
                                      <p:cBhvr additive="base">
                                        <p:cTn id="75" dur="500" fill="hold"/>
                                        <p:tgtEl>
                                          <p:spTgt spid="29"/>
                                        </p:tgtEl>
                                        <p:attrNameLst>
                                          <p:attrName>ppt_y</p:attrName>
                                        </p:attrNameLst>
                                      </p:cBhvr>
                                      <p:tavLst>
                                        <p:tav tm="0">
                                          <p:val>
                                            <p:strVal val="1+#ppt_h/2"/>
                                          </p:val>
                                        </p:tav>
                                        <p:tav tm="100000">
                                          <p:val>
                                            <p:strVal val="#ppt_y"/>
                                          </p:val>
                                        </p:tav>
                                      </p:tavLst>
                                    </p:anim>
                                  </p:childTnLst>
                                </p:cTn>
                              </p:par>
                            </p:childTnLst>
                          </p:cTn>
                        </p:par>
                        <p:par>
                          <p:cTn id="76" fill="hold">
                            <p:stCondLst>
                              <p:cond delay="3000"/>
                            </p:stCondLst>
                            <p:childTnLst>
                              <p:par>
                                <p:cTn id="77" presetID="2" presetClass="entr" presetSubtype="6"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00" fill="hold"/>
                                        <p:tgtEl>
                                          <p:spTgt spid="22"/>
                                        </p:tgtEl>
                                        <p:attrNameLst>
                                          <p:attrName>ppt_x</p:attrName>
                                        </p:attrNameLst>
                                      </p:cBhvr>
                                      <p:tavLst>
                                        <p:tav tm="0">
                                          <p:val>
                                            <p:strVal val="1+#ppt_w/2"/>
                                          </p:val>
                                        </p:tav>
                                        <p:tav tm="100000">
                                          <p:val>
                                            <p:strVal val="#ppt_x"/>
                                          </p:val>
                                        </p:tav>
                                      </p:tavLst>
                                    </p:anim>
                                    <p:anim calcmode="lin" valueType="num">
                                      <p:cBhvr additive="base">
                                        <p:cTn id="80" dur="500" fill="hold"/>
                                        <p:tgtEl>
                                          <p:spTgt spid="22"/>
                                        </p:tgtEl>
                                        <p:attrNameLst>
                                          <p:attrName>ppt_y</p:attrName>
                                        </p:attrNameLst>
                                      </p:cBhvr>
                                      <p:tavLst>
                                        <p:tav tm="0">
                                          <p:val>
                                            <p:strVal val="1+#ppt_h/2"/>
                                          </p:val>
                                        </p:tav>
                                        <p:tav tm="100000">
                                          <p:val>
                                            <p:strVal val="#ppt_y"/>
                                          </p:val>
                                        </p:tav>
                                      </p:tavLst>
                                    </p:anim>
                                  </p:childTnLst>
                                </p:cTn>
                              </p:par>
                              <p:par>
                                <p:cTn id="81" presetID="2" presetClass="entr" presetSubtype="6"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00" fill="hold"/>
                                        <p:tgtEl>
                                          <p:spTgt spid="21"/>
                                        </p:tgtEl>
                                        <p:attrNameLst>
                                          <p:attrName>ppt_x</p:attrName>
                                        </p:attrNameLst>
                                      </p:cBhvr>
                                      <p:tavLst>
                                        <p:tav tm="0">
                                          <p:val>
                                            <p:strVal val="1+#ppt_w/2"/>
                                          </p:val>
                                        </p:tav>
                                        <p:tav tm="100000">
                                          <p:val>
                                            <p:strVal val="#ppt_x"/>
                                          </p:val>
                                        </p:tav>
                                      </p:tavLst>
                                    </p:anim>
                                    <p:anim calcmode="lin" valueType="num">
                                      <p:cBhvr additive="base">
                                        <p:cTn id="84" dur="500" fill="hold"/>
                                        <p:tgtEl>
                                          <p:spTgt spid="21"/>
                                        </p:tgtEl>
                                        <p:attrNameLst>
                                          <p:attrName>ppt_y</p:attrName>
                                        </p:attrNameLst>
                                      </p:cBhvr>
                                      <p:tavLst>
                                        <p:tav tm="0">
                                          <p:val>
                                            <p:strVal val="1+#ppt_h/2"/>
                                          </p:val>
                                        </p:tav>
                                        <p:tav tm="100000">
                                          <p:val>
                                            <p:strVal val="#ppt_y"/>
                                          </p:val>
                                        </p:tav>
                                      </p:tavLst>
                                    </p:anim>
                                  </p:childTnLst>
                                </p:cTn>
                              </p:par>
                              <p:par>
                                <p:cTn id="85" presetID="2" presetClass="entr" presetSubtype="6" fill="hold" nodeType="withEffect">
                                  <p:stCondLst>
                                    <p:cond delay="0"/>
                                  </p:stCondLst>
                                  <p:childTnLst>
                                    <p:set>
                                      <p:cBhvr>
                                        <p:cTn id="86" dur="1" fill="hold">
                                          <p:stCondLst>
                                            <p:cond delay="0"/>
                                          </p:stCondLst>
                                        </p:cTn>
                                        <p:tgtEl>
                                          <p:spTgt spid="7"/>
                                        </p:tgtEl>
                                        <p:attrNameLst>
                                          <p:attrName>style.visibility</p:attrName>
                                        </p:attrNameLst>
                                      </p:cBhvr>
                                      <p:to>
                                        <p:strVal val="visible"/>
                                      </p:to>
                                    </p:set>
                                    <p:anim calcmode="lin" valueType="num">
                                      <p:cBhvr additive="base">
                                        <p:cTn id="87" dur="500" fill="hold"/>
                                        <p:tgtEl>
                                          <p:spTgt spid="7"/>
                                        </p:tgtEl>
                                        <p:attrNameLst>
                                          <p:attrName>ppt_x</p:attrName>
                                        </p:attrNameLst>
                                      </p:cBhvr>
                                      <p:tavLst>
                                        <p:tav tm="0">
                                          <p:val>
                                            <p:strVal val="1+#ppt_w/2"/>
                                          </p:val>
                                        </p:tav>
                                        <p:tav tm="100000">
                                          <p:val>
                                            <p:strVal val="#ppt_x"/>
                                          </p:val>
                                        </p:tav>
                                      </p:tavLst>
                                    </p:anim>
                                    <p:anim calcmode="lin" valueType="num">
                                      <p:cBhvr additive="base">
                                        <p:cTn id="8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3" grpId="0" animBg="1"/>
      <p:bldP spid="16" grpId="0" animBg="1"/>
      <p:bldP spid="15" grpId="0" animBg="1"/>
      <p:bldP spid="19" grpId="0" animBg="1"/>
      <p:bldP spid="20" grpId="0" animBg="1"/>
      <p:bldP spid="21" grpId="0" animBg="1"/>
      <p:bldP spid="22" grpId="0" animBg="1"/>
      <p:bldP spid="25" grpId="0" animBg="1"/>
      <p:bldP spid="26" grpId="0" animBg="1"/>
      <p:bldP spid="27" grpId="0" animBg="1"/>
      <p:bldP spid="28" grpId="0" animBg="1"/>
      <p:bldP spid="29" grpId="0" animBg="1"/>
      <p:bldP spid="30" grpId="0"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1167FF-4A60-1E03-E665-705D20C956CB}"/>
              </a:ext>
            </a:extLst>
          </p:cNvPr>
          <p:cNvSpPr txBox="1"/>
          <p:nvPr/>
        </p:nvSpPr>
        <p:spPr>
          <a:xfrm>
            <a:off x="4967483" y="186749"/>
            <a:ext cx="515233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dirty="0">
                <a:latin typeface="Times New Roman"/>
                <a:cs typeface="Segoe UI Light"/>
              </a:rPr>
              <a:t>Conclusion</a:t>
            </a:r>
            <a:endParaRPr lang="en-US" sz="2800" b="1" dirty="0">
              <a:latin typeface="Times New Roman"/>
            </a:endParaRPr>
          </a:p>
        </p:txBody>
      </p:sp>
      <p:cxnSp>
        <p:nvCxnSpPr>
          <p:cNvPr id="4" name="Straight Connector 3">
            <a:extLst>
              <a:ext uri="{FF2B5EF4-FFF2-40B4-BE49-F238E27FC236}">
                <a16:creationId xmlns:a16="http://schemas.microsoft.com/office/drawing/2014/main" id="{FE9CAD3D-A0C9-F409-F3B4-9B8F949BB738}"/>
              </a:ext>
            </a:extLst>
          </p:cNvPr>
          <p:cNvCxnSpPr/>
          <p:nvPr/>
        </p:nvCxnSpPr>
        <p:spPr>
          <a:xfrm>
            <a:off x="0" y="424195"/>
            <a:ext cx="4601695" cy="56028"/>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1CFF077-9371-0EED-24BC-6C1C984FD9A5}"/>
              </a:ext>
            </a:extLst>
          </p:cNvPr>
          <p:cNvCxnSpPr/>
          <p:nvPr/>
        </p:nvCxnSpPr>
        <p:spPr>
          <a:xfrm flipV="1">
            <a:off x="7097247" y="424194"/>
            <a:ext cx="4769783" cy="5603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CC10FD6-4484-33E8-D6B0-7B8CBC8D8AAA}"/>
              </a:ext>
            </a:extLst>
          </p:cNvPr>
          <p:cNvSpPr txBox="1"/>
          <p:nvPr/>
        </p:nvSpPr>
        <p:spPr>
          <a:xfrm>
            <a:off x="710431" y="1299599"/>
            <a:ext cx="1045111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Waste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Optimizes water distribution, minimizing losses.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Savings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Lowers operational and labor costs through automation.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Efficiency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Automates water control, improving system responsiveness.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Potential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Scalability and integration with AI/analytics for further improvements.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Promotes efficient, long-term water management for agricultural and urban use.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185992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p:cNvGrpSpPr/>
          <p:nvPr/>
        </p:nvGrpSpPr>
        <p:grpSpPr>
          <a:xfrm>
            <a:off x="4325258" y="1544068"/>
            <a:ext cx="3541486" cy="3769865"/>
            <a:chOff x="4325258" y="1229517"/>
            <a:chExt cx="3541486" cy="3769865"/>
          </a:xfrm>
        </p:grpSpPr>
        <p:sp>
          <p:nvSpPr>
            <p:cNvPr id="12" name="Diamond 11"/>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Project analysis, from 24Slides</Template>
  <TotalTime>0</TotalTime>
  <Words>695</Words>
  <Application>Microsoft Office PowerPoint</Application>
  <PresentationFormat>Widescreen</PresentationFormat>
  <Paragraphs>135</Paragraphs>
  <Slides>10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Berlin Sans FB Demi</vt:lpstr>
      <vt:lpstr>Calibri</vt:lpstr>
      <vt:lpstr>Century Gothic</vt:lpstr>
      <vt:lpstr>Segoe UI Light</vt:lpstr>
      <vt:lpstr>Tahoma</vt:lpstr>
      <vt:lpstr>Times New Roman</vt:lpstr>
      <vt:lpstr>Office Theme</vt:lpstr>
      <vt:lpstr>K.K.Wagh Polytechnic, Nashik Department Of Information Technology Academic Year 2024-25 Topic :  “Water Canal Distribution System Using IoT ”     </vt:lpstr>
      <vt:lpstr>PowerPoint Presentation</vt:lpstr>
      <vt:lpstr>Project analysis slide 3</vt:lpstr>
      <vt:lpstr>PowerPoint Presentation</vt:lpstr>
      <vt:lpstr>Project analysis slide 6</vt:lpstr>
      <vt:lpstr>PowerPoint Presentation</vt:lpstr>
      <vt:lpstr>Project analysis slide 7</vt:lpstr>
      <vt:lpstr>Project analysis slide 2</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K.K.Wagh Polytechnic, Nashik Department Of Information Technology Academic Year 2024-25 Topic :  “Mobile Application Development”  Industry : “Sumago Infotech”  </dc:title>
  <dc:creator/>
  <cp:lastModifiedBy/>
  <cp:revision>110</cp:revision>
  <dcterms:created xsi:type="dcterms:W3CDTF">2023-08-06T06:14:00Z</dcterms:created>
  <dcterms:modified xsi:type="dcterms:W3CDTF">2026-07-25T09:41:52Z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7EDA17B54F294706AE52B45D603C93CF</vt:lpwstr>
  </property>
  <property fmtid="{D5CDD505-2E9C-101B-9397-08002B2CF9AE}" pid="4" name="KSOProductBuildVer">
    <vt:lpwstr>1033-11.2.0.11537</vt:lpwstr>
  </property>
</Properties>
</file>